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73" r:id="rId10"/>
    <p:sldId id="274" r:id="rId11"/>
    <p:sldId id="275" r:id="rId12"/>
    <p:sldId id="263" r:id="rId13"/>
    <p:sldId id="264" r:id="rId14"/>
    <p:sldId id="265" r:id="rId15"/>
    <p:sldId id="266" r:id="rId16"/>
    <p:sldId id="276" r:id="rId17"/>
    <p:sldId id="277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8" d="100"/>
          <a:sy n="98" d="100"/>
        </p:scale>
        <p:origin x="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PORTADA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914400"/>
            <a:ext cx="2103120" cy="114300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46920" y="2331720"/>
            <a:ext cx="1417320" cy="1417320"/>
          </a:xfrm>
          <a:prstGeom prst="roundRect">
            <a:avLst/>
          </a:prstGeom>
          <a:solidFill>
            <a:srgbClr val="5DD3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83879" y="4160520"/>
            <a:ext cx="2880360" cy="914400"/>
          </a:xfrm>
          <a:prstGeom prst="roundRect">
            <a:avLst/>
          </a:prstGeom>
          <a:solidFill>
            <a:srgbClr val="2830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69494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2F4F7"/>
                </a:solidFill>
                <a:latin typeface="Georgia"/>
              </a:defRPr>
            </a:pPr>
            <a:r>
              <a:t>Ejercicios PL/SQL</a:t>
            </a:r>
          </a:p>
          <a:p>
            <a:pPr>
              <a:defRPr sz="1800">
                <a:solidFill>
                  <a:srgbClr val="FFB84D"/>
                </a:solidFill>
                <a:latin typeface="Aptos"/>
              </a:defRPr>
            </a:pPr>
            <a:r>
              <a:t>Lógica, validación y procedimientos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20"/>
            <a:ext cx="6217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2F4F7"/>
                </a:solidFill>
                <a:latin typeface="Aptos"/>
              </a:defRPr>
            </a:pPr>
            <a:r>
              <a:t>Alejandro Arango Botero  •  506242092</a:t>
            </a:r>
          </a:p>
          <a:p>
            <a:pPr>
              <a:spcAft>
                <a:spcPts val="500"/>
              </a:spcAft>
              <a:defRPr sz="1100">
                <a:solidFill>
                  <a:srgbClr val="AAB4C1"/>
                </a:solidFill>
                <a:latin typeface="Aptos"/>
              </a:defRPr>
            </a:pPr>
            <a:r>
              <a:t>Asesor: Arcos Munos Noe</a:t>
            </a:r>
          </a:p>
          <a:p>
            <a:pPr>
              <a:spcAft>
                <a:spcPts val="500"/>
              </a:spcAft>
              <a:defRPr sz="1100">
                <a:solidFill>
                  <a:srgbClr val="AAB4C1"/>
                </a:solidFill>
                <a:latin typeface="Aptos"/>
              </a:defRPr>
            </a:pPr>
            <a:r>
              <a:t>Fundación Universitaria Konrad Lorenz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CONTENIDO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Ruta de trabajo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Cuatro ejercicios y una síntesis final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10241280" cy="6858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20823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4D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993391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4F7"/>
                </a:solidFill>
                <a:latin typeface="Aptos"/>
              </a:defRPr>
            </a:pPr>
            <a:r>
              <a:t>Nombre del 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002535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4C1"/>
                </a:solidFill>
                <a:latin typeface="Aptos"/>
              </a:defRPr>
            </a:pPr>
            <a:r>
              <a:t>CASE + validación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79191"/>
            <a:ext cx="10241280" cy="6858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825495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4D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98063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4F7"/>
                </a:solidFill>
                <a:latin typeface="Aptos"/>
              </a:defRPr>
            </a:pPr>
            <a:r>
              <a:t>Validación de una fecha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807207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4C1"/>
                </a:solidFill>
                <a:latin typeface="Aptos"/>
              </a:defRPr>
            </a:pPr>
            <a:r>
              <a:t>Rangos + EXCEPTION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83863"/>
            <a:ext cx="10241280" cy="6858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630167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4D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602735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4F7"/>
                </a:solidFill>
                <a:latin typeface="Aptos"/>
              </a:defRPr>
            </a:pPr>
            <a:r>
              <a:t>Signo zodiacal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611879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4C1"/>
                </a:solidFill>
                <a:latin typeface="Aptos"/>
              </a:defRPr>
            </a:pPr>
            <a:r>
              <a:t>IF / ELSIF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88535"/>
            <a:ext cx="10241280" cy="6858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434839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4D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407407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4F7"/>
                </a:solidFill>
                <a:latin typeface="Aptos"/>
              </a:defRPr>
            </a:pPr>
            <a:r>
              <a:t>Cálculo del IMC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416551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4C1"/>
                </a:solidFill>
                <a:latin typeface="Aptos"/>
              </a:defRPr>
            </a:pPr>
            <a:r>
              <a:t>Procedimiento reutilizable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93207"/>
            <a:ext cx="10241280" cy="6858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0120" y="5239511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B84D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212079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F4F7"/>
                </a:solidFill>
                <a:latin typeface="Aptos"/>
              </a:defRPr>
            </a:pPr>
            <a:r>
              <a:t>Conclusiones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5221223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B4C1"/>
                </a:solidFill>
                <a:latin typeface="Aptos"/>
              </a:defRPr>
            </a:pPr>
            <a:r>
              <a:t>Lógica aplicada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01  —  Nombre del 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Convertir un número del 1 al 12 en su nombre correspondiente.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4937760" cy="301752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448056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2F4F7"/>
                </a:solidFill>
                <a:latin typeface="Aptos"/>
              </a:defRPr>
            </a:pPr>
            <a:r>
              <a:t>Solicitar un número de mes y mostrar su nombre correspondiente.</a:t>
            </a:r>
            <a:br/>
            <a:br/>
            <a:r>
              <a:t>Se utilizan variables, validación de datos del estudiante, CASE y EXCEPTION.</a:t>
            </a:r>
            <a:br/>
            <a:br/>
            <a:r>
              <a:t>Si el número está fuera del rango 1–12, se muestra un mensaje de mes inválido.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011680"/>
            <a:ext cx="4937760" cy="301752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17627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Lógica aplicada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78608"/>
            <a:ext cx="448056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2F4F7"/>
                </a:solidFill>
                <a:latin typeface="Aptos"/>
              </a:defRPr>
            </a:pPr>
            <a:r>
              <a:t>1. Recibir los datos.</a:t>
            </a:r>
            <a:br/>
            <a:r>
              <a:t>2. Verificar nombre y código.</a:t>
            </a:r>
            <a:br/>
            <a:r>
              <a:t>3. Evaluar el mes mediante CASE.</a:t>
            </a:r>
            <a:br/>
            <a:r>
              <a:t>4. Mostrar el resultado o controlar el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Código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Entrada de datos y validación inicial.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698480" cy="3977639"/>
          </a:xfrm>
          <a:prstGeom prst="roundRect">
            <a:avLst/>
          </a:prstGeom>
          <a:solidFill>
            <a:srgbClr val="0E1219"/>
          </a:solidFill>
          <a:ln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6968" y="2039111"/>
            <a:ext cx="868680" cy="292608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48255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1820"/>
                </a:solidFill>
                <a:latin typeface="Aptos"/>
              </a:defRPr>
            </a:pPr>
            <a:r>
              <a:t>PL/SQL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68879"/>
            <a:ext cx="5464958" cy="209288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DAE0E8"/>
                </a:solidFill>
                <a:latin typeface="Cascadia Mono"/>
              </a:defRPr>
            </a:pPr>
            <a:r>
              <a:rPr dirty="0"/>
              <a:t>DECLARE</a:t>
            </a:r>
            <a:br>
              <a:rPr dirty="0"/>
            </a:br>
            <a:r>
              <a:rPr dirty="0"/>
              <a:t>    </a:t>
            </a:r>
            <a:r>
              <a:rPr dirty="0" err="1"/>
              <a:t>nombre</a:t>
            </a:r>
            <a:r>
              <a:rPr dirty="0"/>
              <a:t> VARCHAR2(50) := :</a:t>
            </a:r>
            <a:r>
              <a:rPr dirty="0" err="1"/>
              <a:t>nombre</a:t>
            </a:r>
            <a:r>
              <a:rPr dirty="0"/>
              <a:t>;</a:t>
            </a:r>
            <a:br>
              <a:rPr dirty="0"/>
            </a:br>
            <a:r>
              <a:rPr dirty="0"/>
              <a:t>    </a:t>
            </a:r>
            <a:r>
              <a:rPr dirty="0" err="1"/>
              <a:t>codigo</a:t>
            </a:r>
            <a:r>
              <a:rPr dirty="0"/>
              <a:t> VARCHAR2(20) := :</a:t>
            </a:r>
            <a:r>
              <a:rPr dirty="0" err="1"/>
              <a:t>codigo</a:t>
            </a:r>
            <a:r>
              <a:rPr dirty="0"/>
              <a:t>;</a:t>
            </a:r>
            <a:br>
              <a:rPr dirty="0"/>
            </a:br>
            <a:r>
              <a:rPr dirty="0"/>
              <a:t>    </a:t>
            </a:r>
            <a:r>
              <a:rPr dirty="0" err="1"/>
              <a:t>mes</a:t>
            </a:r>
            <a:r>
              <a:rPr dirty="0"/>
              <a:t> NUMBER := :</a:t>
            </a:r>
            <a:r>
              <a:rPr dirty="0" err="1"/>
              <a:t>mes</a:t>
            </a:r>
            <a:r>
              <a:rPr dirty="0"/>
              <a:t>;</a:t>
            </a:r>
            <a:br>
              <a:rPr dirty="0"/>
            </a:br>
            <a:r>
              <a:rPr dirty="0"/>
              <a:t>    </a:t>
            </a:r>
            <a:r>
              <a:rPr dirty="0" err="1"/>
              <a:t>datos_incorrectos</a:t>
            </a:r>
            <a:r>
              <a:rPr dirty="0"/>
              <a:t> EXCEPTION;</a:t>
            </a:r>
            <a:br>
              <a:rPr dirty="0"/>
            </a:br>
            <a:br>
              <a:rPr dirty="0"/>
            </a:br>
            <a:r>
              <a:rPr dirty="0"/>
              <a:t>BEGIN</a:t>
            </a:r>
            <a:br>
              <a:rPr dirty="0"/>
            </a:br>
            <a:r>
              <a:rPr dirty="0"/>
              <a:t>    IF </a:t>
            </a:r>
            <a:r>
              <a:rPr dirty="0" err="1"/>
              <a:t>nombre</a:t>
            </a:r>
            <a:r>
              <a:rPr dirty="0"/>
              <a:t> &lt;&gt; ‘</a:t>
            </a:r>
            <a:r>
              <a:rPr lang="es-CO" dirty="0"/>
              <a:t>Kevin</a:t>
            </a:r>
            <a:r>
              <a:rPr dirty="0"/>
              <a:t>' OR </a:t>
            </a:r>
            <a:r>
              <a:rPr dirty="0" err="1"/>
              <a:t>codigo</a:t>
            </a:r>
            <a:r>
              <a:rPr dirty="0"/>
              <a:t> &lt;&gt; ‘</a:t>
            </a:r>
            <a:r>
              <a:rPr lang="es-CO" dirty="0"/>
              <a:t>506241036</a:t>
            </a:r>
            <a:r>
              <a:rPr dirty="0"/>
              <a:t>' THEN</a:t>
            </a:r>
            <a:br>
              <a:rPr dirty="0"/>
            </a:br>
            <a:r>
              <a:rPr dirty="0"/>
              <a:t>        RAISE </a:t>
            </a:r>
            <a:r>
              <a:rPr dirty="0" err="1"/>
              <a:t>datos_incorrectos</a:t>
            </a:r>
            <a:r>
              <a:rPr dirty="0"/>
              <a:t>;</a:t>
            </a:r>
            <a:br>
              <a:rPr dirty="0"/>
            </a:br>
            <a:r>
              <a:rPr dirty="0"/>
              <a:t>    END IF;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1908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4C1"/>
                </a:solidFill>
                <a:latin typeface="Aptos"/>
              </a:defRPr>
            </a:pPr>
            <a:r>
              <a:t>BASE DE DATOS II  •  PL/SQL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CASE  —  Asociación mes / número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La estructura CASE concentra las doce posibilidades en una sola decisión.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698480" cy="3977639"/>
          </a:xfrm>
          <a:prstGeom prst="roundRect">
            <a:avLst/>
          </a:prstGeom>
          <a:solidFill>
            <a:srgbClr val="0E1219"/>
          </a:solidFill>
          <a:ln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6968" y="2039111"/>
            <a:ext cx="868680" cy="292608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48255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1820"/>
                </a:solidFill>
                <a:latin typeface="Aptos"/>
              </a:defRPr>
            </a:pPr>
            <a:r>
              <a:t>PL/SQL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68879"/>
            <a:ext cx="10186416" cy="322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AE0E8"/>
                </a:solidFill>
                <a:latin typeface="Cascadia Mono"/>
              </a:defRPr>
            </a:pPr>
            <a:r>
              <a:rPr dirty="0"/>
              <a:t>CASE </a:t>
            </a:r>
            <a:r>
              <a:rPr dirty="0" err="1"/>
              <a:t>mes</a:t>
            </a:r>
            <a:br>
              <a:rPr dirty="0"/>
            </a:br>
            <a:r>
              <a:rPr dirty="0"/>
              <a:t>  WHEN 1 THEN '</a:t>
            </a:r>
            <a:r>
              <a:rPr dirty="0" err="1"/>
              <a:t>Enero</a:t>
            </a:r>
            <a:r>
              <a:rPr dirty="0"/>
              <a:t>'       WHEN 2 THEN '</a:t>
            </a:r>
            <a:r>
              <a:rPr dirty="0" err="1"/>
              <a:t>Febrero</a:t>
            </a:r>
            <a:r>
              <a:rPr dirty="0"/>
              <a:t>'</a:t>
            </a:r>
            <a:br>
              <a:rPr dirty="0"/>
            </a:br>
            <a:r>
              <a:rPr dirty="0"/>
              <a:t>  WHEN 3 THEN 'Marzo'       WHEN 4 THEN 'Abril'</a:t>
            </a:r>
            <a:br>
              <a:rPr dirty="0"/>
            </a:br>
            <a:r>
              <a:rPr dirty="0"/>
              <a:t>  WHEN 5 THEN 'Mayo'        WHEN 6 THEN 'Junio'</a:t>
            </a:r>
            <a:br>
              <a:rPr dirty="0"/>
            </a:br>
            <a:r>
              <a:rPr dirty="0"/>
              <a:t>  WHEN 7 THEN 'Julio'       WHEN 8 THEN 'Agosto'</a:t>
            </a:r>
            <a:br>
              <a:rPr dirty="0"/>
            </a:br>
            <a:r>
              <a:rPr dirty="0"/>
              <a:t>  WHEN 9 THEN '</a:t>
            </a:r>
            <a:r>
              <a:rPr dirty="0" err="1"/>
              <a:t>Septiembre</a:t>
            </a:r>
            <a:r>
              <a:rPr dirty="0"/>
              <a:t>'  WHEN 10 THEN '</a:t>
            </a:r>
            <a:r>
              <a:rPr dirty="0" err="1"/>
              <a:t>Octubre</a:t>
            </a:r>
            <a:r>
              <a:rPr dirty="0"/>
              <a:t>'</a:t>
            </a:r>
            <a:br>
              <a:rPr dirty="0"/>
            </a:br>
            <a:r>
              <a:rPr dirty="0"/>
              <a:t>  WHEN 11 THEN '</a:t>
            </a:r>
            <a:r>
              <a:rPr dirty="0" err="1"/>
              <a:t>Noviembre</a:t>
            </a:r>
            <a:r>
              <a:rPr dirty="0"/>
              <a:t>'  WHEN 12 THEN '</a:t>
            </a:r>
            <a:r>
              <a:rPr dirty="0" err="1"/>
              <a:t>Diciembre</a:t>
            </a:r>
            <a:r>
              <a:rPr dirty="0"/>
              <a:t>'</a:t>
            </a:r>
            <a:br>
              <a:rPr dirty="0"/>
            </a:br>
            <a:r>
              <a:rPr dirty="0"/>
              <a:t>  ELSE '</a:t>
            </a:r>
            <a:r>
              <a:rPr dirty="0" err="1"/>
              <a:t>Numero</a:t>
            </a:r>
            <a:r>
              <a:rPr dirty="0"/>
              <a:t> de </a:t>
            </a:r>
            <a:r>
              <a:rPr dirty="0" err="1"/>
              <a:t>mes</a:t>
            </a:r>
            <a:r>
              <a:rPr dirty="0"/>
              <a:t> </a:t>
            </a:r>
            <a:r>
              <a:rPr dirty="0" err="1"/>
              <a:t>invalido</a:t>
            </a:r>
            <a:r>
              <a:rPr dirty="0"/>
              <a:t>'</a:t>
            </a:r>
            <a:br>
              <a:rPr dirty="0"/>
            </a:br>
            <a:r>
              <a:rPr dirty="0"/>
              <a:t>END CASE;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885FC-7182-7C81-6C0E-34A3C8400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D9CFA5-E865-4A2F-089D-7BBE83E4D13D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A63DE7-78E8-1CFB-2D55-6E1E2C09CFEE}"/>
              </a:ext>
            </a:extLst>
          </p:cNvPr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B8F95-BA85-4088-7FD3-854C74A8A94E}"/>
              </a:ext>
            </a:extLst>
          </p:cNvPr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2BA548-C269-442F-C87B-45B532C368E4}"/>
              </a:ext>
            </a:extLst>
          </p:cNvPr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7DD0B-5E84-B416-3EA2-0502028DFEED}"/>
              </a:ext>
            </a:extLst>
          </p:cNvPr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rPr dirty="0"/>
              <a:t>Código principal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618567-553F-451B-E4B7-30CF999113B3}"/>
              </a:ext>
            </a:extLst>
          </p:cNvPr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Entrada de datos y validación inicial.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8444A5-683B-593B-D3B2-D6BA9A3952AD}"/>
              </a:ext>
            </a:extLst>
          </p:cNvPr>
          <p:cNvSpPr/>
          <p:nvPr/>
        </p:nvSpPr>
        <p:spPr>
          <a:xfrm>
            <a:off x="685800" y="1874519"/>
            <a:ext cx="10698480" cy="3977639"/>
          </a:xfrm>
          <a:prstGeom prst="roundRect">
            <a:avLst/>
          </a:prstGeom>
          <a:solidFill>
            <a:srgbClr val="0E1219"/>
          </a:solidFill>
          <a:ln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5D15B4-43A6-FBC8-747C-A9FB1078952E}"/>
              </a:ext>
            </a:extLst>
          </p:cNvPr>
          <p:cNvSpPr txBox="1"/>
          <p:nvPr/>
        </p:nvSpPr>
        <p:spPr>
          <a:xfrm>
            <a:off x="685800" y="641908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4C1"/>
                </a:solidFill>
                <a:latin typeface="Aptos"/>
              </a:defRPr>
            </a:pPr>
            <a:r>
              <a:t>BASE DE DATOS II  •  PL/SQL</a:t>
            </a:r>
          </a:p>
        </p:txBody>
      </p:sp>
      <p:pic>
        <p:nvPicPr>
          <p:cNvPr id="14" name="Imagen 13" descr="The image shows a snippet of an SQL script with a SELECT statement, a conditional IF statement, a CASE statement for month selection, and a user input section for variable declarations.&#10;&#10;El contenido generado por IA puede ser incorrecto.">
            <a:extLst>
              <a:ext uri="{FF2B5EF4-FFF2-40B4-BE49-F238E27FC236}">
                <a16:creationId xmlns:a16="http://schemas.microsoft.com/office/drawing/2014/main" id="{47318CB6-A48C-C2D6-3908-B3160534F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676" y="1207093"/>
            <a:ext cx="4938089" cy="4884530"/>
          </a:xfrm>
          <a:prstGeom prst="rect">
            <a:avLst/>
          </a:prstGeom>
        </p:spPr>
      </p:pic>
      <p:sp>
        <p:nvSpPr>
          <p:cNvPr id="16" name="TextBox 5">
            <a:extLst>
              <a:ext uri="{FF2B5EF4-FFF2-40B4-BE49-F238E27FC236}">
                <a16:creationId xmlns:a16="http://schemas.microsoft.com/office/drawing/2014/main" id="{F4155DD6-6811-1F64-0660-42641B9D61F7}"/>
              </a:ext>
            </a:extLst>
          </p:cNvPr>
          <p:cNvSpPr txBox="1"/>
          <p:nvPr/>
        </p:nvSpPr>
        <p:spPr>
          <a:xfrm>
            <a:off x="1174311" y="3499787"/>
            <a:ext cx="39148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rPr dirty="0"/>
              <a:t>Código</a:t>
            </a:r>
            <a:r>
              <a:rPr lang="es-CO" dirty="0"/>
              <a:t> funcionando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7780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02  —  Validación de una fecha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Comprobar que día, mes y año formen una fecha cronológicamente correcta.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5029200" cy="347472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32888"/>
            <a:ext cx="457200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2F4F7"/>
                </a:solidFill>
                <a:latin typeface="Aptos"/>
              </a:defRPr>
            </a:pPr>
            <a:r>
              <a:t>Solicitar día, mes y año y validar si la fecha es cronológicamente correcta.</a:t>
            </a:r>
            <a:br/>
            <a:br/>
            <a:r>
              <a:t>Se crean las excepciones datos_incorrectos y fecha_incorrecta.</a:t>
            </a:r>
            <a:br/>
            <a:br/>
            <a:r>
              <a:t>Se revisan rangos del mes, día, febrero, meses de 30 días y año.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965960"/>
            <a:ext cx="4663440" cy="347472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130552"/>
            <a:ext cx="4206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Idea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532888"/>
            <a:ext cx="4206240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F4F7"/>
                </a:solidFill>
                <a:latin typeface="Aptos"/>
              </a:defRPr>
            </a:pPr>
            <a:r>
              <a:t>La fecha se valida por reglas concretas. Cada condición reduce el conjunto de entradas posibles hasta dejar únicamente fechas aceptables.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Reglas de validación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Cada componente tiene un rango o condición específica.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7691"/>
            <a:ext cx="10241280" cy="658368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41832" y="2316635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98175"/>
            <a:ext cx="9784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2F4F7"/>
                </a:solidFill>
                <a:latin typeface="Aptos"/>
              </a:defRPr>
            </a:pPr>
            <a:r>
              <a:rPr lang="es-CO" dirty="0"/>
              <a:t>Entre 12 y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66644"/>
            <a:ext cx="10241280" cy="658368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920843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rPr dirty="0"/>
              <a:t>DÍA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00399"/>
            <a:ext cx="9784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2F4F7"/>
                </a:solidFill>
                <a:latin typeface="Aptos"/>
              </a:defRPr>
            </a:pPr>
            <a:r>
              <a:rPr dirty="0"/>
              <a:t>Entre 1 y 31.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0551"/>
            <a:ext cx="10241280" cy="658368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635403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FEBRERO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59351"/>
            <a:ext cx="9784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2F4F7"/>
                </a:solidFill>
                <a:latin typeface="Aptos"/>
              </a:defRPr>
            </a:pPr>
            <a:r>
              <a:t>No puede superar 29 días.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334255"/>
            <a:ext cx="10241280" cy="658368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960120" y="4363367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30 DÍAS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18303"/>
            <a:ext cx="9784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2F4F7"/>
                </a:solidFill>
                <a:latin typeface="Aptos"/>
              </a:defRPr>
            </a:pPr>
            <a:r>
              <a:t>Abril, junio, septiembre y noviembre no superan 30.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57959"/>
            <a:ext cx="10241280" cy="658368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074919"/>
            <a:ext cx="9784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AÑO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477255"/>
            <a:ext cx="9784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2F4F7"/>
                </a:solidFill>
                <a:latin typeface="Aptos"/>
              </a:defRPr>
            </a:pPr>
            <a:r>
              <a:t>Debe ser mayor o igual a 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4D369-6DBD-7C67-DB8E-58FF2EBC6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A74332-71AD-78A3-125F-0A1FDEA66E30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DAF178-5AA1-F1E3-CF2E-CE068F21AE36}"/>
              </a:ext>
            </a:extLst>
          </p:cNvPr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6953F-FFA7-93EE-D157-EE6923494774}"/>
              </a:ext>
            </a:extLst>
          </p:cNvPr>
          <p:cNvSpPr txBox="1"/>
          <p:nvPr/>
        </p:nvSpPr>
        <p:spPr>
          <a:xfrm>
            <a:off x="594360" y="164592"/>
            <a:ext cx="8931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rPr dirty="0"/>
              <a:t>EJERCICIO 0</a:t>
            </a:r>
            <a:r>
              <a:rPr lang="es-CO" dirty="0"/>
              <a:t>2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AEE6A-0FB5-0984-7F5D-C2BD2BA86427}"/>
              </a:ext>
            </a:extLst>
          </p:cNvPr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4EC24-8DF0-C386-916A-643C665D2A01}"/>
              </a:ext>
            </a:extLst>
          </p:cNvPr>
          <p:cNvSpPr txBox="1"/>
          <p:nvPr/>
        </p:nvSpPr>
        <p:spPr>
          <a:xfrm>
            <a:off x="685800" y="658368"/>
            <a:ext cx="15600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rPr dirty="0"/>
              <a:t>Código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1EEB2F-A11C-D06E-08DC-6D9BEBC0668B}"/>
              </a:ext>
            </a:extLst>
          </p:cNvPr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rPr dirty="0"/>
              <a:t>Entrada de </a:t>
            </a:r>
            <a:r>
              <a:rPr dirty="0" err="1"/>
              <a:t>datos</a:t>
            </a:r>
            <a:r>
              <a:rPr dirty="0"/>
              <a:t> y </a:t>
            </a:r>
            <a:r>
              <a:rPr dirty="0" err="1"/>
              <a:t>validación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D13D557-CEA2-F153-779A-220CBFC97463}"/>
              </a:ext>
            </a:extLst>
          </p:cNvPr>
          <p:cNvSpPr/>
          <p:nvPr/>
        </p:nvSpPr>
        <p:spPr>
          <a:xfrm>
            <a:off x="685800" y="1874519"/>
            <a:ext cx="10698480" cy="3977639"/>
          </a:xfrm>
          <a:prstGeom prst="roundRect">
            <a:avLst/>
          </a:prstGeom>
          <a:solidFill>
            <a:srgbClr val="0E1219"/>
          </a:solidFill>
          <a:ln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99D6171-C63D-CE20-4E17-C89F5569DE95}"/>
              </a:ext>
            </a:extLst>
          </p:cNvPr>
          <p:cNvSpPr/>
          <p:nvPr/>
        </p:nvSpPr>
        <p:spPr>
          <a:xfrm>
            <a:off x="886968" y="2039111"/>
            <a:ext cx="868680" cy="292608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604330-0848-436A-34C5-273A485576CB}"/>
              </a:ext>
            </a:extLst>
          </p:cNvPr>
          <p:cNvSpPr txBox="1"/>
          <p:nvPr/>
        </p:nvSpPr>
        <p:spPr>
          <a:xfrm>
            <a:off x="886968" y="2048255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1820"/>
                </a:solidFill>
                <a:latin typeface="Aptos"/>
              </a:defRPr>
            </a:pPr>
            <a:r>
              <a:t>PL/SQL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C82C25-03AE-32A7-C7EB-648174B7F8DA}"/>
              </a:ext>
            </a:extLst>
          </p:cNvPr>
          <p:cNvSpPr txBox="1"/>
          <p:nvPr/>
        </p:nvSpPr>
        <p:spPr>
          <a:xfrm>
            <a:off x="685800" y="641908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4C1"/>
                </a:solidFill>
                <a:latin typeface="Aptos"/>
              </a:defRPr>
            </a:pPr>
            <a:r>
              <a:t>BASE DE DATOS II  •  PL/SQL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C4594C0-5593-5C46-664E-9D270B474349}"/>
              </a:ext>
            </a:extLst>
          </p:cNvPr>
          <p:cNvSpPr txBox="1"/>
          <p:nvPr/>
        </p:nvSpPr>
        <p:spPr>
          <a:xfrm>
            <a:off x="886968" y="2385119"/>
            <a:ext cx="61428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DECLARE</a:t>
            </a:r>
          </a:p>
          <a:p>
            <a:endParaRPr lang="es-CO" dirty="0">
              <a:solidFill>
                <a:schemeClr val="bg1"/>
              </a:solidFill>
            </a:endParaRPr>
          </a:p>
          <a:p>
            <a:r>
              <a:rPr lang="es-CO" dirty="0">
                <a:solidFill>
                  <a:schemeClr val="bg1"/>
                </a:solidFill>
              </a:rPr>
              <a:t>    nombre VARCHAR2(50) := :nombre;</a:t>
            </a:r>
          </a:p>
          <a:p>
            <a:r>
              <a:rPr lang="es-CO" dirty="0">
                <a:solidFill>
                  <a:schemeClr val="bg1"/>
                </a:solidFill>
              </a:rPr>
              <a:t>    </a:t>
            </a:r>
            <a:r>
              <a:rPr lang="es-CO" dirty="0" err="1">
                <a:solidFill>
                  <a:schemeClr val="bg1"/>
                </a:solidFill>
              </a:rPr>
              <a:t>codigo</a:t>
            </a:r>
            <a:r>
              <a:rPr lang="es-CO" dirty="0">
                <a:solidFill>
                  <a:schemeClr val="bg1"/>
                </a:solidFill>
              </a:rPr>
              <a:t> VARCHAR2(20) := :</a:t>
            </a:r>
            <a:r>
              <a:rPr lang="es-CO" dirty="0" err="1">
                <a:solidFill>
                  <a:schemeClr val="bg1"/>
                </a:solidFill>
              </a:rPr>
              <a:t>codigo</a:t>
            </a:r>
            <a:r>
              <a:rPr lang="es-CO" dirty="0">
                <a:solidFill>
                  <a:schemeClr val="bg1"/>
                </a:solidFill>
              </a:rPr>
              <a:t>;</a:t>
            </a:r>
          </a:p>
          <a:p>
            <a:endParaRPr lang="es-CO" dirty="0">
              <a:solidFill>
                <a:schemeClr val="bg1"/>
              </a:solidFill>
            </a:endParaRPr>
          </a:p>
          <a:p>
            <a:r>
              <a:rPr lang="es-CO" dirty="0">
                <a:solidFill>
                  <a:schemeClr val="bg1"/>
                </a:solidFill>
              </a:rPr>
              <a:t>    </a:t>
            </a:r>
            <a:r>
              <a:rPr lang="es-CO" dirty="0" err="1">
                <a:solidFill>
                  <a:schemeClr val="bg1"/>
                </a:solidFill>
              </a:rPr>
              <a:t>dia</a:t>
            </a:r>
            <a:r>
              <a:rPr lang="es-CO" dirty="0">
                <a:solidFill>
                  <a:schemeClr val="bg1"/>
                </a:solidFill>
              </a:rPr>
              <a:t> NUMBER := :</a:t>
            </a:r>
            <a:r>
              <a:rPr lang="es-CO" dirty="0" err="1">
                <a:solidFill>
                  <a:schemeClr val="bg1"/>
                </a:solidFill>
              </a:rPr>
              <a:t>dia</a:t>
            </a:r>
            <a:r>
              <a:rPr lang="es-CO" dirty="0">
                <a:solidFill>
                  <a:schemeClr val="bg1"/>
                </a:solidFill>
              </a:rPr>
              <a:t>;</a:t>
            </a:r>
          </a:p>
          <a:p>
            <a:r>
              <a:rPr lang="es-CO" dirty="0">
                <a:solidFill>
                  <a:schemeClr val="bg1"/>
                </a:solidFill>
              </a:rPr>
              <a:t>    mes NUMBER := :mes;</a:t>
            </a:r>
          </a:p>
          <a:p>
            <a:r>
              <a:rPr lang="es-CO" dirty="0">
                <a:solidFill>
                  <a:schemeClr val="bg1"/>
                </a:solidFill>
              </a:rPr>
              <a:t>    </a:t>
            </a:r>
            <a:r>
              <a:rPr lang="es-CO" dirty="0" err="1">
                <a:solidFill>
                  <a:schemeClr val="bg1"/>
                </a:solidFill>
              </a:rPr>
              <a:t>anio</a:t>
            </a:r>
            <a:r>
              <a:rPr lang="es-CO" dirty="0">
                <a:solidFill>
                  <a:schemeClr val="bg1"/>
                </a:solidFill>
              </a:rPr>
              <a:t> NUMBER := :</a:t>
            </a:r>
            <a:r>
              <a:rPr lang="es-CO" dirty="0" err="1">
                <a:solidFill>
                  <a:schemeClr val="bg1"/>
                </a:solidFill>
              </a:rPr>
              <a:t>anio</a:t>
            </a:r>
            <a:r>
              <a:rPr lang="es-CO" dirty="0">
                <a:solidFill>
                  <a:schemeClr val="bg1"/>
                </a:solidFill>
              </a:rPr>
              <a:t>;</a:t>
            </a:r>
          </a:p>
          <a:p>
            <a:endParaRPr lang="es-CO" dirty="0">
              <a:solidFill>
                <a:schemeClr val="bg1"/>
              </a:solidFill>
            </a:endParaRPr>
          </a:p>
          <a:p>
            <a:r>
              <a:rPr lang="es-CO" dirty="0">
                <a:solidFill>
                  <a:schemeClr val="bg1"/>
                </a:solidFill>
              </a:rPr>
              <a:t>    </a:t>
            </a:r>
            <a:r>
              <a:rPr lang="es-CO" dirty="0" err="1">
                <a:solidFill>
                  <a:schemeClr val="bg1"/>
                </a:solidFill>
              </a:rPr>
              <a:t>datos_incorrectos</a:t>
            </a:r>
            <a:r>
              <a:rPr lang="es-CO" dirty="0">
                <a:solidFill>
                  <a:schemeClr val="bg1"/>
                </a:solidFill>
              </a:rPr>
              <a:t> EXCEPTION;</a:t>
            </a:r>
          </a:p>
          <a:p>
            <a:r>
              <a:rPr lang="es-CO" dirty="0">
                <a:solidFill>
                  <a:schemeClr val="bg1"/>
                </a:solidFill>
              </a:rPr>
              <a:t>    </a:t>
            </a:r>
            <a:r>
              <a:rPr lang="es-CO" dirty="0" err="1">
                <a:solidFill>
                  <a:schemeClr val="bg1"/>
                </a:solidFill>
              </a:rPr>
              <a:t>fecha_incorrecta</a:t>
            </a:r>
            <a:r>
              <a:rPr lang="es-CO" dirty="0">
                <a:solidFill>
                  <a:schemeClr val="bg1"/>
                </a:solidFill>
              </a:rPr>
              <a:t> EXCEPTION;</a:t>
            </a:r>
          </a:p>
        </p:txBody>
      </p:sp>
    </p:spTree>
    <p:extLst>
      <p:ext uri="{BB962C8B-B14F-4D97-AF65-F5344CB8AC3E}">
        <p14:creationId xmlns:p14="http://schemas.microsoft.com/office/powerpoint/2010/main" val="3154630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665B0-FF79-0DA4-7D8D-1A2E9C733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C998F6-BEC2-A0BF-257F-ACA91D85ABAC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36C14-E9E9-7F81-C27D-911023E7DF8B}"/>
              </a:ext>
            </a:extLst>
          </p:cNvPr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C4CBD-BB9E-AA46-ECD9-1FE7947DBE51}"/>
              </a:ext>
            </a:extLst>
          </p:cNvPr>
          <p:cNvSpPr txBox="1"/>
          <p:nvPr/>
        </p:nvSpPr>
        <p:spPr>
          <a:xfrm>
            <a:off x="594360" y="164592"/>
            <a:ext cx="8931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rPr dirty="0"/>
              <a:t>EJERCICIO 0</a:t>
            </a:r>
            <a:r>
              <a:rPr lang="es-CO" dirty="0"/>
              <a:t>2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E883F-6ADC-F7E3-51FC-55AAA6643486}"/>
              </a:ext>
            </a:extLst>
          </p:cNvPr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FAF11-DE81-CCCE-262D-790418EC6424}"/>
              </a:ext>
            </a:extLst>
          </p:cNvPr>
          <p:cNvSpPr txBox="1"/>
          <p:nvPr/>
        </p:nvSpPr>
        <p:spPr>
          <a:xfrm>
            <a:off x="685800" y="658368"/>
            <a:ext cx="15600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rPr dirty="0"/>
              <a:t>Código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A4685A-DB69-E6D7-12C3-D2D4D1D456D1}"/>
              </a:ext>
            </a:extLst>
          </p:cNvPr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rPr dirty="0"/>
              <a:t>Entrada de </a:t>
            </a:r>
            <a:r>
              <a:rPr dirty="0" err="1"/>
              <a:t>datos</a:t>
            </a:r>
            <a:r>
              <a:rPr dirty="0"/>
              <a:t> y </a:t>
            </a:r>
            <a:r>
              <a:rPr dirty="0" err="1"/>
              <a:t>validación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E41417-3AF1-6773-CB4D-341EADC4B356}"/>
              </a:ext>
            </a:extLst>
          </p:cNvPr>
          <p:cNvSpPr/>
          <p:nvPr/>
        </p:nvSpPr>
        <p:spPr>
          <a:xfrm>
            <a:off x="746760" y="1737259"/>
            <a:ext cx="10698480" cy="3977639"/>
          </a:xfrm>
          <a:prstGeom prst="roundRect">
            <a:avLst/>
          </a:prstGeom>
          <a:solidFill>
            <a:srgbClr val="0E1219"/>
          </a:solidFill>
          <a:ln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994D9CD-B413-B275-6553-DFBA3FAC1178}"/>
              </a:ext>
            </a:extLst>
          </p:cNvPr>
          <p:cNvSpPr/>
          <p:nvPr/>
        </p:nvSpPr>
        <p:spPr>
          <a:xfrm>
            <a:off x="886968" y="2039111"/>
            <a:ext cx="868680" cy="292608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52E943-DF4F-FD0F-8BE4-F6BD7124D7C6}"/>
              </a:ext>
            </a:extLst>
          </p:cNvPr>
          <p:cNvSpPr txBox="1"/>
          <p:nvPr/>
        </p:nvSpPr>
        <p:spPr>
          <a:xfrm>
            <a:off x="886968" y="2048255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1820"/>
                </a:solidFill>
                <a:latin typeface="Aptos"/>
              </a:defRPr>
            </a:pPr>
            <a:r>
              <a:t>PL/SQL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AB033-EBE4-C78E-6E5E-9EE423BEFB20}"/>
              </a:ext>
            </a:extLst>
          </p:cNvPr>
          <p:cNvSpPr txBox="1"/>
          <p:nvPr/>
        </p:nvSpPr>
        <p:spPr>
          <a:xfrm>
            <a:off x="685800" y="641908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4C1"/>
                </a:solidFill>
                <a:latin typeface="Aptos"/>
              </a:defRPr>
            </a:pPr>
            <a:r>
              <a:t>BASE DE DATOS II  •  PL/SQL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B67897F-703B-E0A2-E5A0-6BFDB35ABCE1}"/>
              </a:ext>
            </a:extLst>
          </p:cNvPr>
          <p:cNvSpPr txBox="1"/>
          <p:nvPr/>
        </p:nvSpPr>
        <p:spPr>
          <a:xfrm>
            <a:off x="886968" y="2385119"/>
            <a:ext cx="858527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>
                <a:solidFill>
                  <a:schemeClr val="bg1"/>
                </a:solidFill>
              </a:rPr>
              <a:t>BEGIN</a:t>
            </a:r>
          </a:p>
          <a:p>
            <a:endParaRPr lang="es-CO" sz="1400" dirty="0">
              <a:solidFill>
                <a:schemeClr val="bg1"/>
              </a:solidFill>
            </a:endParaRPr>
          </a:p>
          <a:p>
            <a:r>
              <a:rPr lang="es-CO" sz="1400" dirty="0">
                <a:solidFill>
                  <a:schemeClr val="bg1"/>
                </a:solidFill>
              </a:rPr>
              <a:t>    IF nombre &lt;&gt; 'Kevin' OR </a:t>
            </a:r>
            <a:r>
              <a:rPr lang="es-CO" sz="1400" dirty="0" err="1">
                <a:solidFill>
                  <a:schemeClr val="bg1"/>
                </a:solidFill>
              </a:rPr>
              <a:t>codigo</a:t>
            </a:r>
            <a:r>
              <a:rPr lang="es-CO" sz="1400" dirty="0">
                <a:solidFill>
                  <a:schemeClr val="bg1"/>
                </a:solidFill>
              </a:rPr>
              <a:t> &lt;&gt; '5062421036' THEN</a:t>
            </a:r>
          </a:p>
          <a:p>
            <a:r>
              <a:rPr lang="es-CO" sz="1400" dirty="0">
                <a:solidFill>
                  <a:schemeClr val="bg1"/>
                </a:solidFill>
              </a:rPr>
              <a:t>        RAISE </a:t>
            </a:r>
            <a:r>
              <a:rPr lang="es-CO" sz="1400" dirty="0" err="1">
                <a:solidFill>
                  <a:schemeClr val="bg1"/>
                </a:solidFill>
              </a:rPr>
              <a:t>datos_incorrectos</a:t>
            </a:r>
            <a:r>
              <a:rPr lang="es-CO" sz="1400" dirty="0">
                <a:solidFill>
                  <a:schemeClr val="bg1"/>
                </a:solidFill>
              </a:rPr>
              <a:t>;</a:t>
            </a:r>
          </a:p>
          <a:p>
            <a:r>
              <a:rPr lang="es-CO" sz="1400" dirty="0">
                <a:solidFill>
                  <a:schemeClr val="bg1"/>
                </a:solidFill>
              </a:rPr>
              <a:t>    END IF;</a:t>
            </a:r>
          </a:p>
          <a:p>
            <a:endParaRPr lang="es-CO" sz="1400" dirty="0">
              <a:solidFill>
                <a:schemeClr val="bg1"/>
              </a:solidFill>
            </a:endParaRPr>
          </a:p>
          <a:p>
            <a:r>
              <a:rPr lang="es-CO" sz="1400" dirty="0">
                <a:solidFill>
                  <a:schemeClr val="bg1"/>
                </a:solidFill>
              </a:rPr>
              <a:t>    IF mes &lt; 1 OR mes &gt; 12 THEN</a:t>
            </a:r>
          </a:p>
          <a:p>
            <a:r>
              <a:rPr lang="es-CO" sz="1400" dirty="0">
                <a:solidFill>
                  <a:schemeClr val="bg1"/>
                </a:solidFill>
              </a:rPr>
              <a:t>        RAISE </a:t>
            </a:r>
            <a:r>
              <a:rPr lang="es-CO" sz="1400" dirty="0" err="1">
                <a:solidFill>
                  <a:schemeClr val="bg1"/>
                </a:solidFill>
              </a:rPr>
              <a:t>fecha_incorrecta</a:t>
            </a:r>
            <a:r>
              <a:rPr lang="es-CO" sz="1400" dirty="0">
                <a:solidFill>
                  <a:schemeClr val="bg1"/>
                </a:solidFill>
              </a:rPr>
              <a:t>;</a:t>
            </a:r>
          </a:p>
          <a:p>
            <a:r>
              <a:rPr lang="es-CO" sz="1400" dirty="0">
                <a:solidFill>
                  <a:schemeClr val="bg1"/>
                </a:solidFill>
              </a:rPr>
              <a:t>    END IF;</a:t>
            </a:r>
          </a:p>
          <a:p>
            <a:endParaRPr lang="es-CO" sz="1400" dirty="0">
              <a:solidFill>
                <a:schemeClr val="bg1"/>
              </a:solidFill>
            </a:endParaRPr>
          </a:p>
          <a:p>
            <a:r>
              <a:rPr lang="es-CO" sz="1400" dirty="0">
                <a:solidFill>
                  <a:schemeClr val="bg1"/>
                </a:solidFill>
              </a:rPr>
              <a:t>    IF </a:t>
            </a:r>
            <a:r>
              <a:rPr lang="es-CO" sz="1400" dirty="0" err="1">
                <a:solidFill>
                  <a:schemeClr val="bg1"/>
                </a:solidFill>
              </a:rPr>
              <a:t>dia</a:t>
            </a:r>
            <a:r>
              <a:rPr lang="es-CO" sz="1400" dirty="0">
                <a:solidFill>
                  <a:schemeClr val="bg1"/>
                </a:solidFill>
              </a:rPr>
              <a:t> &lt; 1 OR </a:t>
            </a:r>
            <a:r>
              <a:rPr lang="es-CO" sz="1400" dirty="0" err="1">
                <a:solidFill>
                  <a:schemeClr val="bg1"/>
                </a:solidFill>
              </a:rPr>
              <a:t>dia</a:t>
            </a:r>
            <a:r>
              <a:rPr lang="es-CO" sz="1400" dirty="0">
                <a:solidFill>
                  <a:schemeClr val="bg1"/>
                </a:solidFill>
              </a:rPr>
              <a:t> &gt; 31 THEN</a:t>
            </a:r>
          </a:p>
          <a:p>
            <a:r>
              <a:rPr lang="es-CO" sz="1400" dirty="0">
                <a:solidFill>
                  <a:schemeClr val="bg1"/>
                </a:solidFill>
              </a:rPr>
              <a:t>        RAISE </a:t>
            </a:r>
            <a:r>
              <a:rPr lang="es-CO" sz="1400" dirty="0" err="1">
                <a:solidFill>
                  <a:schemeClr val="bg1"/>
                </a:solidFill>
              </a:rPr>
              <a:t>fecha_incorrecta</a:t>
            </a:r>
            <a:r>
              <a:rPr lang="es-CO" sz="1400" dirty="0">
                <a:solidFill>
                  <a:schemeClr val="bg1"/>
                </a:solidFill>
              </a:rPr>
              <a:t>;</a:t>
            </a:r>
          </a:p>
          <a:p>
            <a:r>
              <a:rPr lang="es-CO" sz="1400" dirty="0">
                <a:solidFill>
                  <a:schemeClr val="bg1"/>
                </a:solidFill>
              </a:rPr>
              <a:t>    END IF;</a:t>
            </a:r>
          </a:p>
          <a:p>
            <a:endParaRPr lang="es-CO" sz="1400" dirty="0">
              <a:solidFill>
                <a:schemeClr val="bg1"/>
              </a:solidFill>
            </a:endParaRPr>
          </a:p>
          <a:p>
            <a:r>
              <a:rPr lang="es-CO" sz="1400" dirty="0">
                <a:solidFill>
                  <a:schemeClr val="bg1"/>
                </a:solidFill>
              </a:rPr>
              <a:t>    IF mes = 2 AND </a:t>
            </a:r>
            <a:r>
              <a:rPr lang="es-CO" sz="1400" dirty="0" err="1">
                <a:solidFill>
                  <a:schemeClr val="bg1"/>
                </a:solidFill>
              </a:rPr>
              <a:t>dia</a:t>
            </a:r>
            <a:r>
              <a:rPr lang="es-CO" sz="1400" dirty="0">
                <a:solidFill>
                  <a:schemeClr val="bg1"/>
                </a:solidFill>
              </a:rPr>
              <a:t> &gt; 29 THEN</a:t>
            </a:r>
          </a:p>
          <a:p>
            <a:r>
              <a:rPr lang="es-CO" sz="1400" dirty="0">
                <a:solidFill>
                  <a:schemeClr val="bg1"/>
                </a:solidFill>
              </a:rPr>
              <a:t>        RAISE </a:t>
            </a:r>
            <a:r>
              <a:rPr lang="es-CO" sz="1400" dirty="0" err="1">
                <a:solidFill>
                  <a:schemeClr val="bg1"/>
                </a:solidFill>
              </a:rPr>
              <a:t>fecha_incorrecta</a:t>
            </a:r>
            <a:r>
              <a:rPr lang="es-CO" sz="1400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BCDFBF8-BEC7-A45E-477D-4DF480EEA676}"/>
              </a:ext>
            </a:extLst>
          </p:cNvPr>
          <p:cNvSpPr txBox="1"/>
          <p:nvPr/>
        </p:nvSpPr>
        <p:spPr>
          <a:xfrm>
            <a:off x="5641847" y="1737259"/>
            <a:ext cx="6847137" cy="510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sz="1050" dirty="0">
              <a:solidFill>
                <a:schemeClr val="bg1"/>
              </a:solidFill>
            </a:endParaRPr>
          </a:p>
          <a:p>
            <a:r>
              <a:rPr lang="es-CO" sz="1050" dirty="0">
                <a:solidFill>
                  <a:schemeClr val="bg1"/>
                </a:solidFill>
              </a:rPr>
              <a:t>    END IF;</a:t>
            </a:r>
          </a:p>
          <a:p>
            <a:endParaRPr lang="es-CO" sz="1050" dirty="0">
              <a:solidFill>
                <a:schemeClr val="bg1"/>
              </a:solidFill>
            </a:endParaRPr>
          </a:p>
          <a:p>
            <a:r>
              <a:rPr lang="es-CO" sz="1050" dirty="0">
                <a:solidFill>
                  <a:schemeClr val="bg1"/>
                </a:solidFill>
              </a:rPr>
              <a:t>    IF mes IN (4, 6, 9, 11) AND </a:t>
            </a:r>
            <a:r>
              <a:rPr lang="es-CO" sz="1050" dirty="0" err="1">
                <a:solidFill>
                  <a:schemeClr val="bg1"/>
                </a:solidFill>
              </a:rPr>
              <a:t>dia</a:t>
            </a:r>
            <a:r>
              <a:rPr lang="es-CO" sz="1050" dirty="0">
                <a:solidFill>
                  <a:schemeClr val="bg1"/>
                </a:solidFill>
              </a:rPr>
              <a:t> &gt; 30 THEN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    RAISE </a:t>
            </a:r>
            <a:r>
              <a:rPr lang="es-CO" sz="1050" dirty="0" err="1">
                <a:solidFill>
                  <a:schemeClr val="bg1"/>
                </a:solidFill>
              </a:rPr>
              <a:t>fecha_incorrecta</a:t>
            </a:r>
            <a:r>
              <a:rPr lang="es-CO" sz="1050" dirty="0">
                <a:solidFill>
                  <a:schemeClr val="bg1"/>
                </a:solidFill>
              </a:rPr>
              <a:t>;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END IF;</a:t>
            </a:r>
          </a:p>
          <a:p>
            <a:endParaRPr lang="es-CO" sz="1050" dirty="0">
              <a:solidFill>
                <a:schemeClr val="bg1"/>
              </a:solidFill>
            </a:endParaRPr>
          </a:p>
          <a:p>
            <a:r>
              <a:rPr lang="es-CO" sz="1050" dirty="0">
                <a:solidFill>
                  <a:schemeClr val="bg1"/>
                </a:solidFill>
              </a:rPr>
              <a:t>    IF </a:t>
            </a:r>
            <a:r>
              <a:rPr lang="es-CO" sz="1050" dirty="0" err="1">
                <a:solidFill>
                  <a:schemeClr val="bg1"/>
                </a:solidFill>
              </a:rPr>
              <a:t>anio</a:t>
            </a:r>
            <a:r>
              <a:rPr lang="es-CO" sz="1050" dirty="0">
                <a:solidFill>
                  <a:schemeClr val="bg1"/>
                </a:solidFill>
              </a:rPr>
              <a:t> &lt; 1 THEN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    RAISE </a:t>
            </a:r>
            <a:r>
              <a:rPr lang="es-CO" sz="1050" dirty="0" err="1">
                <a:solidFill>
                  <a:schemeClr val="bg1"/>
                </a:solidFill>
              </a:rPr>
              <a:t>fecha_incorrecta</a:t>
            </a:r>
            <a:r>
              <a:rPr lang="es-CO" sz="1050" dirty="0">
                <a:solidFill>
                  <a:schemeClr val="bg1"/>
                </a:solidFill>
              </a:rPr>
              <a:t>;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END IF;</a:t>
            </a:r>
          </a:p>
          <a:p>
            <a:endParaRPr lang="es-CO" sz="1050" dirty="0">
              <a:solidFill>
                <a:schemeClr val="bg1"/>
              </a:solidFill>
            </a:endParaRPr>
          </a:p>
          <a:p>
            <a:r>
              <a:rPr lang="es-CO" sz="1050" dirty="0">
                <a:solidFill>
                  <a:schemeClr val="bg1"/>
                </a:solidFill>
              </a:rPr>
              <a:t>    DBMS_OUTPUT.PUT_LINE('Estudiante: ' || nombre);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DBMS_OUTPUT.PUT_LINE('</a:t>
            </a:r>
            <a:r>
              <a:rPr lang="es-CO" sz="1050" dirty="0" err="1">
                <a:solidFill>
                  <a:schemeClr val="bg1"/>
                </a:solidFill>
              </a:rPr>
              <a:t>Codigo</a:t>
            </a:r>
            <a:r>
              <a:rPr lang="es-CO" sz="1050" dirty="0">
                <a:solidFill>
                  <a:schemeClr val="bg1"/>
                </a:solidFill>
              </a:rPr>
              <a:t>: ' || </a:t>
            </a:r>
            <a:r>
              <a:rPr lang="es-CO" sz="1050" dirty="0" err="1">
                <a:solidFill>
                  <a:schemeClr val="bg1"/>
                </a:solidFill>
              </a:rPr>
              <a:t>codigo</a:t>
            </a:r>
            <a:r>
              <a:rPr lang="es-CO" sz="1050" dirty="0">
                <a:solidFill>
                  <a:schemeClr val="bg1"/>
                </a:solidFill>
              </a:rPr>
              <a:t>);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DBMS_OUTPUT.PUT_LINE('Fecha: ' || </a:t>
            </a:r>
            <a:r>
              <a:rPr lang="es-CO" sz="1050" dirty="0" err="1">
                <a:solidFill>
                  <a:schemeClr val="bg1"/>
                </a:solidFill>
              </a:rPr>
              <a:t>dia</a:t>
            </a:r>
            <a:r>
              <a:rPr lang="es-CO" sz="1050" dirty="0">
                <a:solidFill>
                  <a:schemeClr val="bg1"/>
                </a:solidFill>
              </a:rPr>
              <a:t> || '/' || mes || '/' || </a:t>
            </a:r>
            <a:r>
              <a:rPr lang="es-CO" sz="1050" dirty="0" err="1">
                <a:solidFill>
                  <a:schemeClr val="bg1"/>
                </a:solidFill>
              </a:rPr>
              <a:t>anio</a:t>
            </a:r>
            <a:r>
              <a:rPr lang="es-CO" sz="1050" dirty="0">
                <a:solidFill>
                  <a:schemeClr val="bg1"/>
                </a:solidFill>
              </a:rPr>
              <a:t>);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DBMS_OUTPUT.PUT_LINE('La fecha es </a:t>
            </a:r>
            <a:r>
              <a:rPr lang="es-CO" sz="1050" dirty="0" err="1">
                <a:solidFill>
                  <a:schemeClr val="bg1"/>
                </a:solidFill>
              </a:rPr>
              <a:t>cronologicamente</a:t>
            </a:r>
            <a:r>
              <a:rPr lang="es-CO" sz="1050" dirty="0">
                <a:solidFill>
                  <a:schemeClr val="bg1"/>
                </a:solidFill>
              </a:rPr>
              <a:t> correcta.');</a:t>
            </a:r>
          </a:p>
          <a:p>
            <a:endParaRPr lang="es-CO" sz="1050" dirty="0">
              <a:solidFill>
                <a:schemeClr val="bg1"/>
              </a:solidFill>
            </a:endParaRPr>
          </a:p>
          <a:p>
            <a:r>
              <a:rPr lang="es-CO" sz="1050" dirty="0">
                <a:solidFill>
                  <a:schemeClr val="bg1"/>
                </a:solidFill>
              </a:rPr>
              <a:t>EXCEPTION</a:t>
            </a:r>
          </a:p>
          <a:p>
            <a:endParaRPr lang="es-CO" sz="1050" dirty="0">
              <a:solidFill>
                <a:schemeClr val="bg1"/>
              </a:solidFill>
            </a:endParaRPr>
          </a:p>
          <a:p>
            <a:r>
              <a:rPr lang="es-CO" sz="1050" dirty="0">
                <a:solidFill>
                  <a:schemeClr val="bg1"/>
                </a:solidFill>
              </a:rPr>
              <a:t>    WHEN </a:t>
            </a:r>
            <a:r>
              <a:rPr lang="es-CO" sz="1050" dirty="0" err="1">
                <a:solidFill>
                  <a:schemeClr val="bg1"/>
                </a:solidFill>
              </a:rPr>
              <a:t>datos_incorrectos</a:t>
            </a:r>
            <a:r>
              <a:rPr lang="es-CO" sz="1050" dirty="0">
                <a:solidFill>
                  <a:schemeClr val="bg1"/>
                </a:solidFill>
              </a:rPr>
              <a:t> THEN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    DBMS_OUTPUT.PUT_LINE(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        'ERROR: Los datos del estudiante son incorrectos.'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    );</a:t>
            </a:r>
          </a:p>
          <a:p>
            <a:endParaRPr lang="es-CO" sz="1050" dirty="0">
              <a:solidFill>
                <a:schemeClr val="bg1"/>
              </a:solidFill>
            </a:endParaRPr>
          </a:p>
          <a:p>
            <a:r>
              <a:rPr lang="es-CO" sz="1050" dirty="0">
                <a:solidFill>
                  <a:schemeClr val="bg1"/>
                </a:solidFill>
              </a:rPr>
              <a:t>    WHEN </a:t>
            </a:r>
            <a:r>
              <a:rPr lang="es-CO" sz="1050" dirty="0" err="1">
                <a:solidFill>
                  <a:schemeClr val="bg1"/>
                </a:solidFill>
              </a:rPr>
              <a:t>fecha_incorrecta</a:t>
            </a:r>
            <a:r>
              <a:rPr lang="es-CO" sz="1050" dirty="0">
                <a:solidFill>
                  <a:schemeClr val="bg1"/>
                </a:solidFill>
              </a:rPr>
              <a:t> THEN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    DBMS_OUTPUT.PUT_LINE(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        'ERROR: La fecha ingresada no es </a:t>
            </a:r>
            <a:r>
              <a:rPr lang="es-CO" sz="1050" dirty="0" err="1">
                <a:solidFill>
                  <a:schemeClr val="bg1"/>
                </a:solidFill>
              </a:rPr>
              <a:t>cronologicamente</a:t>
            </a:r>
            <a:r>
              <a:rPr lang="es-CO" sz="1050" dirty="0">
                <a:solidFill>
                  <a:schemeClr val="bg1"/>
                </a:solidFill>
              </a:rPr>
              <a:t> correcta.'</a:t>
            </a:r>
          </a:p>
          <a:p>
            <a:r>
              <a:rPr lang="es-CO" sz="1050" dirty="0">
                <a:solidFill>
                  <a:schemeClr val="bg1"/>
                </a:solidFill>
              </a:rPr>
              <a:t>        );</a:t>
            </a:r>
          </a:p>
          <a:p>
            <a:endParaRPr lang="es-CO" sz="1200" dirty="0">
              <a:solidFill>
                <a:schemeClr val="bg1"/>
              </a:solidFill>
            </a:endParaRPr>
          </a:p>
          <a:p>
            <a:r>
              <a:rPr lang="es-CO" sz="1200" dirty="0">
                <a:solidFill>
                  <a:schemeClr val="bg1"/>
                </a:solidFill>
              </a:rPr>
              <a:t>END;</a:t>
            </a:r>
          </a:p>
          <a:p>
            <a:r>
              <a:rPr lang="es-CO" sz="1200" dirty="0">
                <a:solidFill>
                  <a:schemeClr val="bg1"/>
                </a:solidFill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012865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2CF40-2C14-2FC4-4226-0A7334B1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643325-B243-EDDC-E242-9109C2C778E4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3B28EC-5E22-049B-B19B-A7856FBDDC34}"/>
              </a:ext>
            </a:extLst>
          </p:cNvPr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6FB8D0-2FA8-FE5D-731D-1AD722981828}"/>
              </a:ext>
            </a:extLst>
          </p:cNvPr>
          <p:cNvSpPr txBox="1"/>
          <p:nvPr/>
        </p:nvSpPr>
        <p:spPr>
          <a:xfrm>
            <a:off x="594360" y="164592"/>
            <a:ext cx="89319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rPr dirty="0"/>
              <a:t>EJERCICIO 0</a:t>
            </a:r>
            <a:r>
              <a:rPr lang="es-CO" dirty="0"/>
              <a:t>2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A10F6-5EE3-09B9-FEBA-C472AF0F9D1C}"/>
              </a:ext>
            </a:extLst>
          </p:cNvPr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A387F-155D-5AC3-5DF9-A53665649217}"/>
              </a:ext>
            </a:extLst>
          </p:cNvPr>
          <p:cNvSpPr txBox="1"/>
          <p:nvPr/>
        </p:nvSpPr>
        <p:spPr>
          <a:xfrm>
            <a:off x="685800" y="658368"/>
            <a:ext cx="15600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rPr dirty="0"/>
              <a:t>Código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E90FC-B99C-1735-2B42-F7438E323D79}"/>
              </a:ext>
            </a:extLst>
          </p:cNvPr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rPr dirty="0"/>
              <a:t>Entrada de </a:t>
            </a:r>
            <a:r>
              <a:rPr dirty="0" err="1"/>
              <a:t>datos</a:t>
            </a:r>
            <a:r>
              <a:rPr dirty="0"/>
              <a:t> y </a:t>
            </a:r>
            <a:r>
              <a:rPr dirty="0" err="1"/>
              <a:t>validación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B5028A-9BDC-52A8-20A0-94F241E188C4}"/>
              </a:ext>
            </a:extLst>
          </p:cNvPr>
          <p:cNvSpPr/>
          <p:nvPr/>
        </p:nvSpPr>
        <p:spPr>
          <a:xfrm>
            <a:off x="780288" y="1737259"/>
            <a:ext cx="10698480" cy="3977639"/>
          </a:xfrm>
          <a:prstGeom prst="roundRect">
            <a:avLst/>
          </a:prstGeom>
          <a:solidFill>
            <a:srgbClr val="0E1219"/>
          </a:solidFill>
          <a:ln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887F0E7-71D2-6197-4E68-14532E5F6B20}"/>
              </a:ext>
            </a:extLst>
          </p:cNvPr>
          <p:cNvSpPr/>
          <p:nvPr/>
        </p:nvSpPr>
        <p:spPr>
          <a:xfrm>
            <a:off x="886968" y="2039111"/>
            <a:ext cx="868680" cy="292608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575914-EBF9-076D-5D13-A282EE9982D1}"/>
              </a:ext>
            </a:extLst>
          </p:cNvPr>
          <p:cNvSpPr txBox="1"/>
          <p:nvPr/>
        </p:nvSpPr>
        <p:spPr>
          <a:xfrm>
            <a:off x="886968" y="2048255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1820"/>
                </a:solidFill>
                <a:latin typeface="Aptos"/>
              </a:defRPr>
            </a:pPr>
            <a:r>
              <a:t>PL/SQL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B4221C-4FC4-5909-F1C0-7C083ACD5EBF}"/>
              </a:ext>
            </a:extLst>
          </p:cNvPr>
          <p:cNvSpPr txBox="1"/>
          <p:nvPr/>
        </p:nvSpPr>
        <p:spPr>
          <a:xfrm>
            <a:off x="685800" y="641908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4C1"/>
                </a:solidFill>
                <a:latin typeface="Aptos"/>
              </a:defRPr>
            </a:pPr>
            <a:r>
              <a:t>BASE DE DATOS II  •  PL/SQL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83857E3-5503-862B-187B-F3A7BBF7BDDE}"/>
              </a:ext>
            </a:extLst>
          </p:cNvPr>
          <p:cNvSpPr txBox="1"/>
          <p:nvPr/>
        </p:nvSpPr>
        <p:spPr>
          <a:xfrm>
            <a:off x="5641847" y="1737259"/>
            <a:ext cx="6847137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sz="1050" dirty="0">
              <a:solidFill>
                <a:schemeClr val="bg1"/>
              </a:solidFill>
            </a:endParaRPr>
          </a:p>
          <a:p>
            <a:endParaRPr lang="es-CO" sz="1200" dirty="0">
              <a:solidFill>
                <a:schemeClr val="bg1"/>
              </a:solidFill>
            </a:endParaRPr>
          </a:p>
        </p:txBody>
      </p:sp>
      <p:pic>
        <p:nvPicPr>
          <p:cNvPr id="15" name="Imagen 14" descr="The image shows a snippet of an Oracle PL/SQL block with an exception handling structure, specifically an error message for incorrect student data.&#10;&#10;El contenido generado por IA puede ser incorrecto.">
            <a:extLst>
              <a:ext uri="{FF2B5EF4-FFF2-40B4-BE49-F238E27FC236}">
                <a16:creationId xmlns:a16="http://schemas.microsoft.com/office/drawing/2014/main" id="{80367FD2-32D1-E1F6-4D1B-58799E8A2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722" y="730442"/>
            <a:ext cx="5367846" cy="539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759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Resultados esperados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La salida depende de si todas las condiciones se cumplen.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4937760" cy="18288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7627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Fecha válida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44805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F2F4F7"/>
                </a:solidFill>
                <a:latin typeface="Aptos"/>
              </a:defRPr>
            </a:pPr>
            <a:r>
              <a:t>“La fecha es cronologicamente correcta.”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011680"/>
            <a:ext cx="4937760" cy="18288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217627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Fecha inválida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78608"/>
            <a:ext cx="44805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F4F7"/>
                </a:solidFill>
                <a:latin typeface="Aptos"/>
              </a:defRPr>
            </a:pPr>
            <a:r>
              <a:t>“ERROR: La fecha ingresada no es cronologicamente correcta.”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51960"/>
            <a:ext cx="10195560" cy="105156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416552"/>
            <a:ext cx="9738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Ejemplos del documento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18888"/>
            <a:ext cx="9738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2F4F7"/>
                </a:solidFill>
                <a:latin typeface="Aptos"/>
              </a:defRPr>
            </a:pPr>
            <a:r>
              <a:t>30/02/2006  →  inválida</a:t>
            </a:r>
            <a:br/>
            <a:r>
              <a:t>17/07/2006  →  válida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03  —  Signo zodiacal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Determinar el signo a partir del día y el mes, después de validar la fecha.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10195560" cy="11430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84832"/>
            <a:ext cx="9738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Proceso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973836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F4F7"/>
                </a:solidFill>
                <a:latin typeface="Aptos"/>
              </a:defRPr>
            </a:pPr>
            <a:r>
              <a:t>1. Validar la información del estudiante y la fecha.   →   2. Comparar día y mes.   →   3. Identificar el rango zodiacal.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4937760" cy="192024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59359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Estructuras usadas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95928"/>
            <a:ext cx="44805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F4F7"/>
                </a:solidFill>
                <a:latin typeface="Aptos"/>
              </a:defRPr>
            </a:pPr>
            <a:r>
              <a:t>IF y ELSIF permiten comparar el día y el mes con los límites de cada signo.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429000"/>
            <a:ext cx="4937760" cy="192024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593592"/>
            <a:ext cx="4480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Punto clave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995928"/>
            <a:ext cx="448056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F4F7"/>
                </a:solidFill>
                <a:latin typeface="Aptos"/>
              </a:defRPr>
            </a:pPr>
            <a:r>
              <a:t>La lógica combina condiciones de mes y día para manejar los cambios de signo dentro de un mismo mes.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Rangos zodiacales 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Primera mitad de los signos.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21 de marzo – 19 de abril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136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TAURO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38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20 de abril – 20 de mayo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GÉMINIS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81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21 de mayo – 20 de junio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1828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993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CÁNCER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395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21 de junio – 22 de julio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2971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136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LEO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538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23 de julio – 22 de agosto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4114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4279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VIRGO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81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23 de agosto – 22 de septiembre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Rangos zodiacales  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Segunda mitad de los signos.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LIBRA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23 de septiembre – 22 de octubre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136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ESCORPIO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538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23 de octubre – 21 de noviembre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SAGITARIO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81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22 de noviembre – 21 de diciembre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1828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993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CAPRICORNIO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395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22 de diciembre – 19 de enero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2971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136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ACUARIO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538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20 de enero – 18 de febrero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4114800"/>
            <a:ext cx="4892040" cy="9144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0" y="4279392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PISCIS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681728"/>
            <a:ext cx="4434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2F4F7"/>
                </a:solidFill>
                <a:latin typeface="Aptos"/>
              </a:defRPr>
            </a:pPr>
            <a:r>
              <a:t>19 de febrero – 20 de marzo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2DB227-5F95-86D7-0C8B-07970E474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C33A94-F390-111A-62AA-276B3AE86A27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F97B2D-5933-1AFB-2D05-4EF67910D89B}"/>
              </a:ext>
            </a:extLst>
          </p:cNvPr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704A0B-00FD-3236-1183-3C52220D7E57}"/>
              </a:ext>
            </a:extLst>
          </p:cNvPr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A10E1-EAD4-0DD6-79B8-26C2A42F59B3}"/>
              </a:ext>
            </a:extLst>
          </p:cNvPr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C848C-AD94-00DC-9B58-DCA19AB0E4A0}"/>
              </a:ext>
            </a:extLst>
          </p:cNvPr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Rangos zodiacales  II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9B13529-E99E-CED7-9C75-B3C8F954FD61}"/>
              </a:ext>
            </a:extLst>
          </p:cNvPr>
          <p:cNvSpPr/>
          <p:nvPr/>
        </p:nvSpPr>
        <p:spPr>
          <a:xfrm>
            <a:off x="854964" y="1828800"/>
            <a:ext cx="9678572" cy="3094892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1EFA067-C98E-7365-778E-026A7AE8642E}"/>
              </a:ext>
            </a:extLst>
          </p:cNvPr>
          <p:cNvSpPr txBox="1"/>
          <p:nvPr/>
        </p:nvSpPr>
        <p:spPr>
          <a:xfrm>
            <a:off x="6497751" y="521154"/>
            <a:ext cx="379515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CO" sz="6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IF (mes = 3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21) OR (mes = 4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19)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Aries');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ELSIF (mes = 4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20) OR (mes = 5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20)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Tauro');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ELSIF (mes = 5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21) OR (mes = 6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20)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</a:t>
            </a:r>
            <a:r>
              <a:rPr lang="es-CO" sz="700" dirty="0" err="1">
                <a:solidFill>
                  <a:schemeClr val="bg1"/>
                </a:solidFill>
              </a:rPr>
              <a:t>Geminis</a:t>
            </a:r>
            <a:r>
              <a:rPr lang="es-CO" sz="700" dirty="0">
                <a:solidFill>
                  <a:schemeClr val="bg1"/>
                </a:solidFill>
              </a:rPr>
              <a:t>');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ELSIF (mes = 6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21) OR (mes = 7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22)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</a:t>
            </a:r>
            <a:r>
              <a:rPr lang="es-CO" sz="700" dirty="0" err="1">
                <a:solidFill>
                  <a:schemeClr val="bg1"/>
                </a:solidFill>
              </a:rPr>
              <a:t>Cancer</a:t>
            </a:r>
            <a:r>
              <a:rPr lang="es-CO" sz="700" dirty="0">
                <a:solidFill>
                  <a:schemeClr val="bg1"/>
                </a:solidFill>
              </a:rPr>
              <a:t>');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ELSIF (mes = 7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23) OR (mes = 8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22)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Leo');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ELSIF (mes = 8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23) OR (mes = 9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22)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Virgo');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ELSIF (mes = 9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23) OR (mes = 10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22)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Libra');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ELSIF (mes = 10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23) OR (mes = 11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21)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Escorpio');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ELSIF (mes = 11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22) OR (mes = 12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21)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Sagitario');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ELSIF (mes = 12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22) OR (mes = 1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19)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Capricornio');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ELSIF (mes = 1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20) OR (mes = 2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18)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Acuario');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ELSIF (mes = 2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&gt;= 19) OR (mes = 3 AND </a:t>
            </a:r>
            <a:r>
              <a:rPr lang="es-CO" sz="700" dirty="0" err="1">
                <a:solidFill>
                  <a:schemeClr val="bg1"/>
                </a:solidFill>
              </a:rPr>
              <a:t>dia</a:t>
            </a:r>
            <a:r>
              <a:rPr lang="es-CO" sz="700" dirty="0">
                <a:solidFill>
                  <a:schemeClr val="bg1"/>
                </a:solidFill>
              </a:rPr>
              <a:t> &lt;= 20)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DBMS_OUTPUT.PUT_LINE('Signo zodiacal: Piscis');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END IF;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EXCEPTION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WHEN </a:t>
            </a:r>
            <a:r>
              <a:rPr lang="es-CO" sz="700" dirty="0" err="1">
                <a:solidFill>
                  <a:schemeClr val="bg1"/>
                </a:solidFill>
              </a:rPr>
              <a:t>datos_incorrectos</a:t>
            </a:r>
            <a:r>
              <a:rPr lang="es-CO" sz="700" dirty="0">
                <a:solidFill>
                  <a:schemeClr val="bg1"/>
                </a:solidFill>
              </a:rPr>
              <a:t>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    'ERROR: Los datos del estudiante son incorrectos.'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    WHEN </a:t>
            </a:r>
            <a:r>
              <a:rPr lang="es-CO" sz="700" dirty="0" err="1">
                <a:solidFill>
                  <a:schemeClr val="bg1"/>
                </a:solidFill>
              </a:rPr>
              <a:t>fecha_incorrecta</a:t>
            </a:r>
            <a:r>
              <a:rPr lang="es-CO" sz="700" dirty="0">
                <a:solidFill>
                  <a:schemeClr val="bg1"/>
                </a:solidFill>
              </a:rPr>
              <a:t> THEN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DBMS_OUTPUT.PUT_LINE(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    'ERROR: La fecha ingresada no es correcta.'</a:t>
            </a:r>
          </a:p>
          <a:p>
            <a:r>
              <a:rPr lang="es-CO" sz="700" dirty="0">
                <a:solidFill>
                  <a:schemeClr val="bg1"/>
                </a:solidFill>
              </a:rPr>
              <a:t>        );</a:t>
            </a:r>
          </a:p>
          <a:p>
            <a:endParaRPr lang="es-CO" sz="700" dirty="0">
              <a:solidFill>
                <a:schemeClr val="bg1"/>
              </a:solidFill>
            </a:endParaRPr>
          </a:p>
          <a:p>
            <a:r>
              <a:rPr lang="es-CO" sz="700" dirty="0">
                <a:solidFill>
                  <a:schemeClr val="bg1"/>
                </a:solidFill>
              </a:rPr>
              <a:t>END;</a:t>
            </a:r>
          </a:p>
          <a:p>
            <a:r>
              <a:rPr lang="es-CO" sz="700" dirty="0">
                <a:solidFill>
                  <a:schemeClr val="bg1"/>
                </a:solidFill>
              </a:rPr>
              <a:t>/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22DF0CF-AD30-0549-1564-7D4D595AF9E6}"/>
              </a:ext>
            </a:extLst>
          </p:cNvPr>
          <p:cNvSpPr txBox="1"/>
          <p:nvPr/>
        </p:nvSpPr>
        <p:spPr>
          <a:xfrm>
            <a:off x="716280" y="1046988"/>
            <a:ext cx="410460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800" dirty="0">
                <a:solidFill>
                  <a:schemeClr val="bg1"/>
                </a:solidFill>
              </a:rPr>
              <a:t>DECLARE</a:t>
            </a:r>
          </a:p>
          <a:p>
            <a:endParaRPr lang="es-CO" sz="800" dirty="0">
              <a:solidFill>
                <a:schemeClr val="bg1"/>
              </a:solidFill>
            </a:endParaRPr>
          </a:p>
          <a:p>
            <a:r>
              <a:rPr lang="es-CO" sz="800" dirty="0">
                <a:solidFill>
                  <a:schemeClr val="bg1"/>
                </a:solidFill>
              </a:rPr>
              <a:t>    nombre VARCHAR2(50) := :nombre;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</a:t>
            </a:r>
            <a:r>
              <a:rPr lang="es-CO" sz="800" dirty="0" err="1">
                <a:solidFill>
                  <a:schemeClr val="bg1"/>
                </a:solidFill>
              </a:rPr>
              <a:t>codigo</a:t>
            </a:r>
            <a:r>
              <a:rPr lang="es-CO" sz="800" dirty="0">
                <a:solidFill>
                  <a:schemeClr val="bg1"/>
                </a:solidFill>
              </a:rPr>
              <a:t> VARCHAR2(20) := :</a:t>
            </a:r>
            <a:r>
              <a:rPr lang="es-CO" sz="800" dirty="0" err="1">
                <a:solidFill>
                  <a:schemeClr val="bg1"/>
                </a:solidFill>
              </a:rPr>
              <a:t>codigo</a:t>
            </a:r>
            <a:r>
              <a:rPr lang="es-CO" sz="800" dirty="0">
                <a:solidFill>
                  <a:schemeClr val="bg1"/>
                </a:solidFill>
              </a:rPr>
              <a:t>;</a:t>
            </a:r>
          </a:p>
          <a:p>
            <a:endParaRPr lang="es-CO" sz="800" dirty="0">
              <a:solidFill>
                <a:schemeClr val="bg1"/>
              </a:solidFill>
            </a:endParaRPr>
          </a:p>
          <a:p>
            <a:r>
              <a:rPr lang="es-CO" sz="800" dirty="0">
                <a:solidFill>
                  <a:schemeClr val="bg1"/>
                </a:solidFill>
              </a:rPr>
              <a:t>    </a:t>
            </a:r>
            <a:r>
              <a:rPr lang="es-CO" sz="800" dirty="0" err="1">
                <a:solidFill>
                  <a:schemeClr val="bg1"/>
                </a:solidFill>
              </a:rPr>
              <a:t>dia</a:t>
            </a:r>
            <a:r>
              <a:rPr lang="es-CO" sz="800" dirty="0">
                <a:solidFill>
                  <a:schemeClr val="bg1"/>
                </a:solidFill>
              </a:rPr>
              <a:t> NUMBER := :</a:t>
            </a:r>
            <a:r>
              <a:rPr lang="es-CO" sz="800" dirty="0" err="1">
                <a:solidFill>
                  <a:schemeClr val="bg1"/>
                </a:solidFill>
              </a:rPr>
              <a:t>dia</a:t>
            </a:r>
            <a:r>
              <a:rPr lang="es-CO" sz="800" dirty="0">
                <a:solidFill>
                  <a:schemeClr val="bg1"/>
                </a:solidFill>
              </a:rPr>
              <a:t>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mes NUMBER := :mes;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</a:t>
            </a:r>
            <a:r>
              <a:rPr lang="es-CO" sz="800" dirty="0" err="1">
                <a:solidFill>
                  <a:schemeClr val="bg1"/>
                </a:solidFill>
              </a:rPr>
              <a:t>anio</a:t>
            </a:r>
            <a:r>
              <a:rPr lang="es-CO" sz="800" dirty="0">
                <a:solidFill>
                  <a:schemeClr val="bg1"/>
                </a:solidFill>
              </a:rPr>
              <a:t> NUMBER := :</a:t>
            </a:r>
            <a:r>
              <a:rPr lang="es-CO" sz="800" dirty="0" err="1">
                <a:solidFill>
                  <a:schemeClr val="bg1"/>
                </a:solidFill>
              </a:rPr>
              <a:t>anio</a:t>
            </a:r>
            <a:r>
              <a:rPr lang="es-CO" sz="800" dirty="0">
                <a:solidFill>
                  <a:schemeClr val="bg1"/>
                </a:solidFill>
              </a:rPr>
              <a:t>;</a:t>
            </a:r>
          </a:p>
          <a:p>
            <a:endParaRPr lang="es-CO" sz="800" dirty="0">
              <a:solidFill>
                <a:schemeClr val="bg1"/>
              </a:solidFill>
            </a:endParaRPr>
          </a:p>
          <a:p>
            <a:r>
              <a:rPr lang="es-CO" sz="800" dirty="0">
                <a:solidFill>
                  <a:schemeClr val="bg1"/>
                </a:solidFill>
              </a:rPr>
              <a:t>    </a:t>
            </a:r>
            <a:r>
              <a:rPr lang="es-CO" sz="800" dirty="0" err="1">
                <a:solidFill>
                  <a:schemeClr val="bg1"/>
                </a:solidFill>
              </a:rPr>
              <a:t>datos_incorrectos</a:t>
            </a:r>
            <a:r>
              <a:rPr lang="es-CO" sz="800" dirty="0">
                <a:solidFill>
                  <a:schemeClr val="bg1"/>
                </a:solidFill>
              </a:rPr>
              <a:t> EXCEPTION;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</a:t>
            </a:r>
            <a:r>
              <a:rPr lang="es-CO" sz="800" dirty="0" err="1">
                <a:solidFill>
                  <a:schemeClr val="bg1"/>
                </a:solidFill>
              </a:rPr>
              <a:t>fecha_incorrecta</a:t>
            </a:r>
            <a:r>
              <a:rPr lang="es-CO" sz="800" dirty="0">
                <a:solidFill>
                  <a:schemeClr val="bg1"/>
                </a:solidFill>
              </a:rPr>
              <a:t> EXCEPTION;</a:t>
            </a:r>
          </a:p>
          <a:p>
            <a:endParaRPr lang="es-CO" sz="800" dirty="0">
              <a:solidFill>
                <a:schemeClr val="bg1"/>
              </a:solidFill>
            </a:endParaRPr>
          </a:p>
          <a:p>
            <a:r>
              <a:rPr lang="es-CO" sz="800" dirty="0">
                <a:solidFill>
                  <a:schemeClr val="bg1"/>
                </a:solidFill>
              </a:rPr>
              <a:t>BEGIN</a:t>
            </a:r>
          </a:p>
          <a:p>
            <a:endParaRPr lang="es-CO" sz="800" dirty="0">
              <a:solidFill>
                <a:schemeClr val="bg1"/>
              </a:solidFill>
            </a:endParaRPr>
          </a:p>
          <a:p>
            <a:r>
              <a:rPr lang="es-CO" sz="800" dirty="0">
                <a:solidFill>
                  <a:schemeClr val="bg1"/>
                </a:solidFill>
              </a:rPr>
              <a:t>    IF nombre &lt;&gt; ‘Kevin' OR </a:t>
            </a:r>
            <a:r>
              <a:rPr lang="es-CO" sz="800" dirty="0" err="1">
                <a:solidFill>
                  <a:schemeClr val="bg1"/>
                </a:solidFill>
              </a:rPr>
              <a:t>codigo</a:t>
            </a:r>
            <a:r>
              <a:rPr lang="es-CO" sz="800" dirty="0">
                <a:solidFill>
                  <a:schemeClr val="bg1"/>
                </a:solidFill>
              </a:rPr>
              <a:t> &lt;&gt; '506241036' THEN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    RAISE </a:t>
            </a:r>
            <a:r>
              <a:rPr lang="es-CO" sz="800" dirty="0" err="1">
                <a:solidFill>
                  <a:schemeClr val="bg1"/>
                </a:solidFill>
              </a:rPr>
              <a:t>datos_incorrectos</a:t>
            </a:r>
            <a:r>
              <a:rPr lang="es-CO" sz="800" dirty="0">
                <a:solidFill>
                  <a:schemeClr val="bg1"/>
                </a:solidFill>
              </a:rPr>
              <a:t>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END IF;</a:t>
            </a:r>
          </a:p>
          <a:p>
            <a:endParaRPr lang="es-CO" sz="800" dirty="0">
              <a:solidFill>
                <a:schemeClr val="bg1"/>
              </a:solidFill>
            </a:endParaRPr>
          </a:p>
          <a:p>
            <a:r>
              <a:rPr lang="es-CO" sz="800" dirty="0">
                <a:solidFill>
                  <a:schemeClr val="bg1"/>
                </a:solidFill>
              </a:rPr>
              <a:t>    IF mes &lt; 1 OR mes &gt; 12 THEN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    RAISE </a:t>
            </a:r>
            <a:r>
              <a:rPr lang="es-CO" sz="800" dirty="0" err="1">
                <a:solidFill>
                  <a:schemeClr val="bg1"/>
                </a:solidFill>
              </a:rPr>
              <a:t>fecha_incorrecta</a:t>
            </a:r>
            <a:r>
              <a:rPr lang="es-CO" sz="800" dirty="0">
                <a:solidFill>
                  <a:schemeClr val="bg1"/>
                </a:solidFill>
              </a:rPr>
              <a:t>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END IF;</a:t>
            </a:r>
          </a:p>
          <a:p>
            <a:endParaRPr lang="es-CO" sz="800" dirty="0">
              <a:solidFill>
                <a:schemeClr val="bg1"/>
              </a:solidFill>
            </a:endParaRPr>
          </a:p>
          <a:p>
            <a:r>
              <a:rPr lang="es-CO" sz="800" dirty="0">
                <a:solidFill>
                  <a:schemeClr val="bg1"/>
                </a:solidFill>
              </a:rPr>
              <a:t>    IF </a:t>
            </a:r>
            <a:r>
              <a:rPr lang="es-CO" sz="800" dirty="0" err="1">
                <a:solidFill>
                  <a:schemeClr val="bg1"/>
                </a:solidFill>
              </a:rPr>
              <a:t>dia</a:t>
            </a:r>
            <a:r>
              <a:rPr lang="es-CO" sz="800" dirty="0">
                <a:solidFill>
                  <a:schemeClr val="bg1"/>
                </a:solidFill>
              </a:rPr>
              <a:t> &lt; 1 OR </a:t>
            </a:r>
            <a:r>
              <a:rPr lang="es-CO" sz="800" dirty="0" err="1">
                <a:solidFill>
                  <a:schemeClr val="bg1"/>
                </a:solidFill>
              </a:rPr>
              <a:t>dia</a:t>
            </a:r>
            <a:r>
              <a:rPr lang="es-CO" sz="800" dirty="0">
                <a:solidFill>
                  <a:schemeClr val="bg1"/>
                </a:solidFill>
              </a:rPr>
              <a:t> &gt; 31 THEN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    RAISE </a:t>
            </a:r>
            <a:r>
              <a:rPr lang="es-CO" sz="800" dirty="0" err="1">
                <a:solidFill>
                  <a:schemeClr val="bg1"/>
                </a:solidFill>
              </a:rPr>
              <a:t>fecha_incorrecta</a:t>
            </a:r>
            <a:r>
              <a:rPr lang="es-CO" sz="800" dirty="0">
                <a:solidFill>
                  <a:schemeClr val="bg1"/>
                </a:solidFill>
              </a:rPr>
              <a:t>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END IF;</a:t>
            </a:r>
          </a:p>
          <a:p>
            <a:endParaRPr lang="es-CO" sz="800" dirty="0">
              <a:solidFill>
                <a:schemeClr val="bg1"/>
              </a:solidFill>
            </a:endParaRPr>
          </a:p>
          <a:p>
            <a:r>
              <a:rPr lang="es-CO" sz="800" dirty="0">
                <a:solidFill>
                  <a:schemeClr val="bg1"/>
                </a:solidFill>
              </a:rPr>
              <a:t>    IF mes = 2 AND </a:t>
            </a:r>
            <a:r>
              <a:rPr lang="es-CO" sz="800" dirty="0" err="1">
                <a:solidFill>
                  <a:schemeClr val="bg1"/>
                </a:solidFill>
              </a:rPr>
              <a:t>dia</a:t>
            </a:r>
            <a:r>
              <a:rPr lang="es-CO" sz="800" dirty="0">
                <a:solidFill>
                  <a:schemeClr val="bg1"/>
                </a:solidFill>
              </a:rPr>
              <a:t> &gt; 29 THEN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    RAISE </a:t>
            </a:r>
            <a:r>
              <a:rPr lang="es-CO" sz="800" dirty="0" err="1">
                <a:solidFill>
                  <a:schemeClr val="bg1"/>
                </a:solidFill>
              </a:rPr>
              <a:t>fecha_incorrecta</a:t>
            </a:r>
            <a:r>
              <a:rPr lang="es-CO" sz="800" dirty="0">
                <a:solidFill>
                  <a:schemeClr val="bg1"/>
                </a:solidFill>
              </a:rPr>
              <a:t>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END IF;</a:t>
            </a:r>
          </a:p>
          <a:p>
            <a:endParaRPr lang="es-CO" sz="800" dirty="0">
              <a:solidFill>
                <a:schemeClr val="bg1"/>
              </a:solidFill>
            </a:endParaRPr>
          </a:p>
          <a:p>
            <a:r>
              <a:rPr lang="es-CO" sz="800" dirty="0">
                <a:solidFill>
                  <a:schemeClr val="bg1"/>
                </a:solidFill>
              </a:rPr>
              <a:t>    IF mes IN (4, 6, 9, 11) AND </a:t>
            </a:r>
            <a:r>
              <a:rPr lang="es-CO" sz="800" dirty="0" err="1">
                <a:solidFill>
                  <a:schemeClr val="bg1"/>
                </a:solidFill>
              </a:rPr>
              <a:t>dia</a:t>
            </a:r>
            <a:r>
              <a:rPr lang="es-CO" sz="800" dirty="0">
                <a:solidFill>
                  <a:schemeClr val="bg1"/>
                </a:solidFill>
              </a:rPr>
              <a:t> &gt; 30 THEN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    RAISE </a:t>
            </a:r>
            <a:r>
              <a:rPr lang="es-CO" sz="800" dirty="0" err="1">
                <a:solidFill>
                  <a:schemeClr val="bg1"/>
                </a:solidFill>
              </a:rPr>
              <a:t>fecha_incorrecta</a:t>
            </a:r>
            <a:r>
              <a:rPr lang="es-CO" sz="800" dirty="0">
                <a:solidFill>
                  <a:schemeClr val="bg1"/>
                </a:solidFill>
              </a:rPr>
              <a:t>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END IF;</a:t>
            </a:r>
          </a:p>
          <a:p>
            <a:endParaRPr lang="es-CO" sz="800" dirty="0">
              <a:solidFill>
                <a:schemeClr val="bg1"/>
              </a:solidFill>
            </a:endParaRPr>
          </a:p>
          <a:p>
            <a:r>
              <a:rPr lang="es-CO" sz="800" dirty="0">
                <a:solidFill>
                  <a:schemeClr val="bg1"/>
                </a:solidFill>
              </a:rPr>
              <a:t>    IF </a:t>
            </a:r>
            <a:r>
              <a:rPr lang="es-CO" sz="800" dirty="0" err="1">
                <a:solidFill>
                  <a:schemeClr val="bg1"/>
                </a:solidFill>
              </a:rPr>
              <a:t>anio</a:t>
            </a:r>
            <a:r>
              <a:rPr lang="es-CO" sz="800" dirty="0">
                <a:solidFill>
                  <a:schemeClr val="bg1"/>
                </a:solidFill>
              </a:rPr>
              <a:t> &lt; 1 THEN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    RAISE </a:t>
            </a:r>
            <a:r>
              <a:rPr lang="es-CO" sz="800" dirty="0" err="1">
                <a:solidFill>
                  <a:schemeClr val="bg1"/>
                </a:solidFill>
              </a:rPr>
              <a:t>fecha_incorrecta</a:t>
            </a:r>
            <a:r>
              <a:rPr lang="es-CO" sz="800" dirty="0">
                <a:solidFill>
                  <a:schemeClr val="bg1"/>
                </a:solidFill>
              </a:rPr>
              <a:t>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END IF;</a:t>
            </a:r>
          </a:p>
          <a:p>
            <a:endParaRPr lang="es-CO" sz="800" dirty="0">
              <a:solidFill>
                <a:schemeClr val="bg1"/>
              </a:solidFill>
            </a:endParaRPr>
          </a:p>
          <a:p>
            <a:r>
              <a:rPr lang="es-CO" sz="800" dirty="0">
                <a:solidFill>
                  <a:schemeClr val="bg1"/>
                </a:solidFill>
              </a:rPr>
              <a:t>    DBMS_OUTPUT.PUT_LINE('Estudiante: ' || nombre);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DBMS_OUTPUT.PUT_LINE('</a:t>
            </a:r>
            <a:r>
              <a:rPr lang="es-CO" sz="800" dirty="0" err="1">
                <a:solidFill>
                  <a:schemeClr val="bg1"/>
                </a:solidFill>
              </a:rPr>
              <a:t>Codigo</a:t>
            </a:r>
            <a:r>
              <a:rPr lang="es-CO" sz="800" dirty="0">
                <a:solidFill>
                  <a:schemeClr val="bg1"/>
                </a:solidFill>
              </a:rPr>
              <a:t>: ' || </a:t>
            </a:r>
            <a:r>
              <a:rPr lang="es-CO" sz="800" dirty="0" err="1">
                <a:solidFill>
                  <a:schemeClr val="bg1"/>
                </a:solidFill>
              </a:rPr>
              <a:t>codigo</a:t>
            </a:r>
            <a:r>
              <a:rPr lang="es-CO" sz="800" dirty="0">
                <a:solidFill>
                  <a:schemeClr val="bg1"/>
                </a:solidFill>
              </a:rPr>
              <a:t>);</a:t>
            </a:r>
          </a:p>
          <a:p>
            <a:r>
              <a:rPr lang="es-CO" sz="800" dirty="0">
                <a:solidFill>
                  <a:schemeClr val="bg1"/>
                </a:solidFill>
              </a:rPr>
              <a:t>    DBMS_OUTPUT.PUT_LINE('Fecha: ' || </a:t>
            </a:r>
            <a:r>
              <a:rPr lang="es-CO" sz="800" dirty="0" err="1">
                <a:solidFill>
                  <a:schemeClr val="bg1"/>
                </a:solidFill>
              </a:rPr>
              <a:t>dia</a:t>
            </a:r>
            <a:r>
              <a:rPr lang="es-CO" sz="800" dirty="0">
                <a:solidFill>
                  <a:schemeClr val="bg1"/>
                </a:solidFill>
              </a:rPr>
              <a:t> || '/' || mes || '/' || </a:t>
            </a:r>
            <a:r>
              <a:rPr lang="es-CO" sz="800" dirty="0" err="1">
                <a:solidFill>
                  <a:schemeClr val="bg1"/>
                </a:solidFill>
              </a:rPr>
              <a:t>anio</a:t>
            </a:r>
            <a:r>
              <a:rPr lang="es-CO" sz="800" dirty="0">
                <a:solidFill>
                  <a:schemeClr val="bg1"/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45450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BDE13-8E3A-7C8D-A48D-F0DE4D7F0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84666B-F50C-1489-A921-0167B041C0DE}"/>
              </a:ext>
            </a:extLst>
          </p:cNvPr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D18AB-478C-8E72-9171-75022F9DF93E}"/>
              </a:ext>
            </a:extLst>
          </p:cNvPr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198B89-E9B5-0FB1-98A0-B0D786076BAB}"/>
              </a:ext>
            </a:extLst>
          </p:cNvPr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26691-3A07-269F-AE72-C28BD14E168D}"/>
              </a:ext>
            </a:extLst>
          </p:cNvPr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728641-73C9-981E-11C0-A866F2BD6A97}"/>
              </a:ext>
            </a:extLst>
          </p:cNvPr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Rangos zodiacales  II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687A9E-7E98-9866-553C-5B43DC8BA45E}"/>
              </a:ext>
            </a:extLst>
          </p:cNvPr>
          <p:cNvSpPr/>
          <p:nvPr/>
        </p:nvSpPr>
        <p:spPr>
          <a:xfrm>
            <a:off x="854964" y="1828800"/>
            <a:ext cx="9678572" cy="3094892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8" name="Imagen 7" descr="The image displays an SQL query written in an Oracle PL/SQL block, including variable assignments, an IF statement with multiple conditions, and error handling, resulting in a print statement that outputs the zodiac sign based on input parameters.&#10;&#10;El contenido generado por IA puede ser incorrecto.">
            <a:extLst>
              <a:ext uri="{FF2B5EF4-FFF2-40B4-BE49-F238E27FC236}">
                <a16:creationId xmlns:a16="http://schemas.microsoft.com/office/drawing/2014/main" id="{0775FA85-5246-0D3F-9BDE-7D424BA0D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640" y="750277"/>
            <a:ext cx="5958766" cy="595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94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04  —  Cálculo del IMC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Crear un procedimiento que reciba peso y altura y produzca el índice.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3657600" cy="329184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39111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41447"/>
            <a:ext cx="32004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2F4F7"/>
                </a:solidFill>
                <a:latin typeface="Aptos"/>
              </a:defRPr>
            </a:pPr>
            <a:r>
              <a:t>Crear un procedimiento para calcular el Índice de Masa Corporal.</a:t>
            </a:r>
            <a:br/>
            <a:br/>
            <a:r>
              <a:t>Se reciben peso y altura como parámetros.</a:t>
            </a:r>
            <a:br/>
            <a:br/>
            <a:r>
              <a:t>También se valida que ambos valores sean mayores que cero.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874519"/>
            <a:ext cx="6126480" cy="141732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46320" y="2039111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Fórmula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441447"/>
            <a:ext cx="56692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2F4F7"/>
                </a:solidFill>
                <a:latin typeface="Aptos"/>
              </a:defRPr>
            </a:pPr>
            <a:r>
              <a:t>IMC = peso / (altura × altura)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3611880"/>
            <a:ext cx="6126480" cy="155448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3776472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Entrada → proceso →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178808"/>
            <a:ext cx="566928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F4F7"/>
                </a:solidFill>
                <a:latin typeface="Aptos"/>
              </a:defRPr>
            </a:pPr>
            <a:r>
              <a:t>Peso + altura  →  cálculo del IMC  →  valor redondeado y clasificación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Procedimiento  calcular_imc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La tarea queda encapsulada en una unidad reutilizable.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698480" cy="3977639"/>
          </a:xfrm>
          <a:prstGeom prst="roundRect">
            <a:avLst/>
          </a:prstGeom>
          <a:solidFill>
            <a:srgbClr val="0E1219"/>
          </a:solidFill>
          <a:ln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6968" y="2039111"/>
            <a:ext cx="868680" cy="292608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2048255"/>
            <a:ext cx="868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141820"/>
                </a:solidFill>
                <a:latin typeface="Aptos"/>
              </a:defRPr>
            </a:pPr>
            <a:r>
              <a:t>PL/SQL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68879"/>
            <a:ext cx="5897768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AE0E8"/>
                </a:solidFill>
                <a:latin typeface="Cascadia Mono"/>
              </a:defRPr>
            </a:pPr>
            <a:r>
              <a:rPr dirty="0"/>
              <a:t>PROCEDURE </a:t>
            </a:r>
            <a:r>
              <a:rPr dirty="0" err="1"/>
              <a:t>calcular_imc</a:t>
            </a:r>
            <a:r>
              <a:rPr dirty="0"/>
              <a:t>(</a:t>
            </a:r>
            <a:r>
              <a:rPr dirty="0" err="1"/>
              <a:t>p_peso</a:t>
            </a:r>
            <a:r>
              <a:rPr dirty="0"/>
              <a:t> NUMBER, </a:t>
            </a:r>
            <a:r>
              <a:rPr dirty="0" err="1"/>
              <a:t>p_altura</a:t>
            </a:r>
            <a:r>
              <a:rPr dirty="0"/>
              <a:t> NUMBER)</a:t>
            </a:r>
            <a:endParaRPr lang="es-CO" dirty="0"/>
          </a:p>
          <a:p>
            <a:pPr>
              <a:defRPr sz="1400">
                <a:solidFill>
                  <a:srgbClr val="DAE0E8"/>
                </a:solidFill>
                <a:latin typeface="Cascadia Mono"/>
              </a:defRPr>
            </a:pPr>
            <a:r>
              <a:rPr dirty="0"/>
              <a:t> IS</a:t>
            </a:r>
            <a:br>
              <a:rPr dirty="0"/>
            </a:br>
            <a:r>
              <a:rPr dirty="0"/>
              <a:t>  </a:t>
            </a:r>
            <a:r>
              <a:rPr dirty="0" err="1"/>
              <a:t>imc</a:t>
            </a:r>
            <a:r>
              <a:rPr dirty="0"/>
              <a:t> NUMBER;</a:t>
            </a:r>
            <a:br>
              <a:rPr dirty="0"/>
            </a:br>
            <a:r>
              <a:rPr dirty="0"/>
              <a:t>BEGIN</a:t>
            </a:r>
            <a:br>
              <a:rPr dirty="0"/>
            </a:br>
            <a:r>
              <a:rPr dirty="0"/>
              <a:t>  </a:t>
            </a:r>
            <a:r>
              <a:rPr dirty="0" err="1"/>
              <a:t>imc</a:t>
            </a:r>
            <a:r>
              <a:rPr dirty="0"/>
              <a:t> := </a:t>
            </a:r>
            <a:r>
              <a:rPr dirty="0" err="1"/>
              <a:t>p_peso</a:t>
            </a:r>
            <a:r>
              <a:rPr dirty="0"/>
              <a:t> / (</a:t>
            </a:r>
            <a:r>
              <a:rPr dirty="0" err="1"/>
              <a:t>p_altura</a:t>
            </a:r>
            <a:r>
              <a:rPr dirty="0"/>
              <a:t> * </a:t>
            </a:r>
            <a:r>
              <a:rPr dirty="0" err="1"/>
              <a:t>p_altura</a:t>
            </a:r>
            <a:r>
              <a:rPr dirty="0"/>
              <a:t>);</a:t>
            </a:r>
            <a:br>
              <a:rPr dirty="0"/>
            </a:br>
            <a:r>
              <a:rPr dirty="0"/>
              <a:t>  DBMS_OUTPUT.PUT_LINE('IMC: ' || ROUND(</a:t>
            </a:r>
            <a:r>
              <a:rPr dirty="0" err="1"/>
              <a:t>imc</a:t>
            </a:r>
            <a:r>
              <a:rPr dirty="0"/>
              <a:t>, 2));</a:t>
            </a:r>
            <a:br>
              <a:rPr dirty="0"/>
            </a:br>
            <a:r>
              <a:rPr dirty="0"/>
              <a:t>  ...</a:t>
            </a:r>
            <a:br>
              <a:rPr dirty="0"/>
            </a:br>
            <a:r>
              <a:rPr dirty="0"/>
              <a:t>END </a:t>
            </a:r>
            <a:r>
              <a:rPr dirty="0" err="1"/>
              <a:t>calcular_imc</a:t>
            </a:r>
            <a:r>
              <a:rPr dirty="0"/>
              <a:t>;</a:t>
            </a:r>
          </a:p>
        </p:txBody>
      </p:sp>
      <p:pic>
        <p:nvPicPr>
          <p:cNvPr id="13" name="Imagen 12" descr="The image shows a SQL worksheet in an Oracle database environment, with a PL/SQL procedure that includes error handling for invalid data in the 'Estudiante' table, specifically checking for negative weight and IMC values.&#10;&#10;El contenido generado por IA puede ser incorrecto.">
            <a:extLst>
              <a:ext uri="{FF2B5EF4-FFF2-40B4-BE49-F238E27FC236}">
                <a16:creationId xmlns:a16="http://schemas.microsoft.com/office/drawing/2014/main" id="{A847A00D-EBBD-3582-D4C7-1D65E6268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5269" y="265176"/>
            <a:ext cx="4972496" cy="50109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EJERCICIO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Clasificación del 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El valor calculado se ubica en un intervalo.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195560" cy="658368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9738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IMC &lt; 18.5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97383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2F4F7"/>
                </a:solidFill>
                <a:latin typeface="Aptos"/>
              </a:defRPr>
            </a:pPr>
            <a:r>
              <a:t>Bajo peso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70048"/>
            <a:ext cx="10195560" cy="658368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834640"/>
            <a:ext cx="9738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IMC &lt;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36976"/>
            <a:ext cx="97383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2F4F7"/>
                </a:solidFill>
                <a:latin typeface="Aptos"/>
              </a:defRPr>
            </a:pPr>
            <a:r>
              <a:t>Peso normal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11296"/>
            <a:ext cx="10195560" cy="658368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675888"/>
            <a:ext cx="9738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IMC &lt;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078224"/>
            <a:ext cx="97383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2F4F7"/>
                </a:solidFill>
                <a:latin typeface="Aptos"/>
              </a:defRPr>
            </a:pPr>
            <a:r>
              <a:t>Sobrepeso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52544"/>
            <a:ext cx="10195560" cy="658368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517136"/>
            <a:ext cx="9738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En los demás casos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19472"/>
            <a:ext cx="97383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2F4F7"/>
                </a:solidFill>
                <a:latin typeface="Aptos"/>
              </a:defRPr>
            </a:pPr>
            <a:r>
              <a:t>Obesidad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40680"/>
            <a:ext cx="10195560" cy="59436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605272"/>
            <a:ext cx="9738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Validación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6007608"/>
            <a:ext cx="973836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2F4F7"/>
                </a:solidFill>
                <a:latin typeface="Aptos"/>
              </a:defRPr>
            </a:pPr>
            <a:r>
              <a:t>Si peso o altura son menores o iguales a cero, se genera una excepción.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Conclusiones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Lo trabajado en los cuatro ejercicios.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2F4F7"/>
                </a:solidFill>
                <a:latin typeface="Aptos"/>
              </a:defRPr>
            </a:pPr>
            <a:r>
              <a:t>•  Se aplicaron variables, estructuras condicionales, excepciones y procedimientos en Oracle PL/SQL.</a:t>
            </a:r>
          </a:p>
          <a:p>
            <a:pPr>
              <a:spcAft>
                <a:spcPts val="1000"/>
              </a:spcAft>
              <a:defRPr sz="1600">
                <a:solidFill>
                  <a:srgbClr val="F2F4F7"/>
                </a:solidFill>
                <a:latin typeface="Aptos"/>
              </a:defRPr>
            </a:pPr>
            <a:r>
              <a:t>•  La validación inicial del nombre y código permite continuar únicamente con datos correctos.</a:t>
            </a:r>
          </a:p>
          <a:p>
            <a:pPr>
              <a:spcAft>
                <a:spcPts val="1000"/>
              </a:spcAft>
              <a:defRPr sz="1600">
                <a:solidFill>
                  <a:srgbClr val="F2F4F7"/>
                </a:solidFill>
                <a:latin typeface="Aptos"/>
              </a:defRPr>
            </a:pPr>
            <a:r>
              <a:t>•  CASE permitió resolver la identificación del mes.</a:t>
            </a:r>
          </a:p>
          <a:p>
            <a:pPr>
              <a:spcAft>
                <a:spcPts val="1000"/>
              </a:spcAft>
              <a:defRPr sz="1600">
                <a:solidFill>
                  <a:srgbClr val="F2F4F7"/>
                </a:solidFill>
                <a:latin typeface="Aptos"/>
              </a:defRPr>
            </a:pPr>
            <a:r>
              <a:t>•  IF y ELSIF permitieron validar fechas y determinar signos zodiacales.</a:t>
            </a:r>
          </a:p>
          <a:p>
            <a:pPr>
              <a:spcAft>
                <a:spcPts val="1000"/>
              </a:spcAft>
              <a:defRPr sz="1600">
                <a:solidFill>
                  <a:srgbClr val="F2F4F7"/>
                </a:solidFill>
                <a:latin typeface="Aptos"/>
              </a:defRPr>
            </a:pPr>
            <a:r>
              <a:t>•  El procedimiento calcular_imc permitió separar una tarea específica y reutilizarla.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1908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4C1"/>
                </a:solidFill>
                <a:latin typeface="Aptos"/>
              </a:defRPr>
            </a:pPr>
            <a:r>
              <a:t>BASE DE DATOS II  •  PL/SQL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41480" y="73152"/>
            <a:ext cx="347472" cy="6784848"/>
          </a:xfrm>
          <a:prstGeom prst="rect">
            <a:avLst/>
          </a:prstGeom>
          <a:solidFill>
            <a:srgbClr val="1F2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5DD39E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AAB4C1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4F7"/>
                </a:solidFill>
                <a:latin typeface="Georgia"/>
              </a:defRPr>
            </a:pPr>
            <a:r>
              <a:t>Conclusión general y referencias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4C1"/>
                </a:solidFill>
                <a:latin typeface="Aptos"/>
              </a:defRPr>
            </a:pPr>
            <a:r>
              <a:t>Una síntesis de la lógica aplicada y las fuentes utilizadas.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74519"/>
            <a:ext cx="5074920" cy="27432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039111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5DD39E"/>
                </a:solidFill>
                <a:latin typeface="Aptos"/>
              </a:defRPr>
            </a:pPr>
            <a:r>
              <a:t>Conclusión general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41447"/>
            <a:ext cx="461772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F4F7"/>
                </a:solidFill>
                <a:latin typeface="Aptos"/>
              </a:defRPr>
            </a:pPr>
            <a:r>
              <a:t>Los ejercicios muestran una secuencia lógica de entrada, validación, procesamiento y salida.</a:t>
            </a:r>
            <a:br/>
            <a:br/>
            <a:r>
              <a:t>Las excepciones permiten controlar situaciones con datos incorrectos.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74519"/>
            <a:ext cx="4617720" cy="2743200"/>
          </a:xfrm>
          <a:prstGeom prst="roundRect">
            <a:avLst/>
          </a:prstGeom>
          <a:solidFill>
            <a:srgbClr val="1F2632"/>
          </a:solidFill>
          <a:ln w="12700">
            <a:solidFill>
              <a:srgbClr val="2830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2039111"/>
            <a:ext cx="4160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84D"/>
                </a:solidFill>
                <a:latin typeface="Aptos"/>
              </a:defRPr>
            </a:pPr>
            <a:r>
              <a:t>Referencias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441447"/>
            <a:ext cx="4160520" cy="2029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2F4F7"/>
                </a:solidFill>
                <a:latin typeface="Aptos"/>
              </a:defRPr>
            </a:pPr>
            <a:r>
              <a:t>• Oracle. Oracle Live SQL.</a:t>
            </a:r>
            <a:br/>
            <a:r>
              <a:t>• Oracle. Database PL/SQL Language Reference.</a:t>
            </a:r>
            <a:br/>
            <a:r>
              <a:t>• Oracle. PL/SQL User's Guide and Reference.</a:t>
            </a:r>
            <a:br/>
            <a:r>
              <a:t>• Oracle. Oracle Database SQL Language Reference.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4754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4C1"/>
                </a:solidFill>
                <a:latin typeface="Aptos"/>
              </a:defRPr>
            </a:pPr>
            <a:r>
              <a:t>BASE DE DATOS II  •  PL/SQL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2314</Words>
  <Application>Microsoft Office PowerPoint</Application>
  <PresentationFormat>Panorámica</PresentationFormat>
  <Paragraphs>351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alejandro arango</dc:creator>
  <cp:keywords/>
  <dc:description>generated using python-pptx</dc:description>
  <cp:lastModifiedBy>alejandro arango</cp:lastModifiedBy>
  <cp:revision>2</cp:revision>
  <dcterms:created xsi:type="dcterms:W3CDTF">2013-01-27T09:14:16Z</dcterms:created>
  <dcterms:modified xsi:type="dcterms:W3CDTF">2026-10-01T06:03:56Z</dcterms:modified>
  <cp:category/>
</cp:coreProperties>
</file>